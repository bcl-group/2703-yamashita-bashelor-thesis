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3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4" autoAdjust="0"/>
    <p:restoredTop sz="94660"/>
  </p:normalViewPr>
  <p:slideViewPr>
    <p:cSldViewPr snapToGrid="0">
      <p:cViewPr varScale="1">
        <p:scale>
          <a:sx n="92" d="100"/>
          <a:sy n="92" d="100"/>
        </p:scale>
        <p:origin x="1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5E84E-6304-4E6B-B916-631837B59305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8CAAE3-EE05-4E90-A13E-E947621726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1981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CAAE3-EE05-4E90-A13E-E947621726B8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2148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CAAE3-EE05-4E90-A13E-E947621726B8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0920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CAAE3-EE05-4E90-A13E-E947621726B8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9424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A32DCC33-87F2-7BB8-4D73-8FB7CAC9FC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936347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 sz="5400" b="1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タイトルをここに入れてください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CFC683A-AF3D-2ACE-5793-E902F764A043}"/>
              </a:ext>
            </a:extLst>
          </p:cNvPr>
          <p:cNvSpPr txBox="1"/>
          <p:nvPr userDrawn="1"/>
        </p:nvSpPr>
        <p:spPr>
          <a:xfrm>
            <a:off x="1897487" y="3876541"/>
            <a:ext cx="83970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b="1" dirty="0">
                <a:latin typeface="+mn-ea"/>
                <a:ea typeface="+mn-ea"/>
                <a:cs typeface="Kigelia Light" panose="020B0502040204020203" pitchFamily="34" charset="0"/>
              </a:rPr>
              <a:t>山口大学 理学部 物理・情報科学科</a:t>
            </a:r>
            <a:endParaRPr kumimoji="1" lang="en-US" altLang="ja-JP" sz="4000" b="1" dirty="0">
              <a:latin typeface="+mn-ea"/>
              <a:ea typeface="+mn-ea"/>
              <a:cs typeface="Kigelia Light" panose="020B0502040204020203" pitchFamily="34" charset="0"/>
            </a:endParaRPr>
          </a:p>
          <a:p>
            <a:pPr algn="ctr"/>
            <a:r>
              <a:rPr kumimoji="1" lang="ja-JP" altLang="en-US" sz="4000" b="1" dirty="0">
                <a:latin typeface="+mn-ea"/>
                <a:ea typeface="+mn-ea"/>
                <a:cs typeface="Kigelia Light" panose="020B0502040204020203" pitchFamily="34" charset="0"/>
              </a:rPr>
              <a:t>生体情報システム研究室</a:t>
            </a:r>
            <a:endParaRPr kumimoji="1" lang="en-US" altLang="ja-JP" sz="4000" b="1" dirty="0">
              <a:latin typeface="+mn-ea"/>
              <a:ea typeface="+mn-ea"/>
              <a:cs typeface="Kigelia Light" panose="020B0502040204020203" pitchFamily="34" charset="0"/>
            </a:endParaRPr>
          </a:p>
          <a:p>
            <a:pPr algn="ctr"/>
            <a:r>
              <a:rPr kumimoji="1" lang="ja-JP" altLang="en-US" sz="4000" b="1" dirty="0">
                <a:latin typeface="+mn-ea"/>
                <a:ea typeface="+mn-ea"/>
                <a:cs typeface="Kigelia Light" panose="020B0502040204020203" pitchFamily="34" charset="0"/>
              </a:rPr>
              <a:t>山下 陽平</a:t>
            </a:r>
          </a:p>
        </p:txBody>
      </p:sp>
    </p:spTree>
    <p:extLst>
      <p:ext uri="{BB962C8B-B14F-4D97-AF65-F5344CB8AC3E}">
        <p14:creationId xmlns:p14="http://schemas.microsoft.com/office/powerpoint/2010/main" val="137675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E0CB0ED-0E07-3D8A-EEF5-84B44B058AD2}"/>
              </a:ext>
            </a:extLst>
          </p:cNvPr>
          <p:cNvSpPr/>
          <p:nvPr userDrawn="1"/>
        </p:nvSpPr>
        <p:spPr>
          <a:xfrm>
            <a:off x="0" y="0"/>
            <a:ext cx="12191999" cy="766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0711955-6FE2-F599-5427-CB4715181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806" y="167425"/>
            <a:ext cx="10972934" cy="598868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タイトルを入力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B8BD8B8-E00D-A834-F4C4-EEB0311B720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18941" y="1094704"/>
            <a:ext cx="10972934" cy="5293397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buNone/>
              <a:defRPr b="1"/>
            </a:lvl1pPr>
          </a:lstStyle>
          <a:p>
            <a:pPr lvl="0"/>
            <a:r>
              <a:rPr kumimoji="1" lang="ja-JP" altLang="en-US" dirty="0"/>
              <a:t>ここに説明文を入れます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816587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78A3354F-F2C8-0F21-8C99-02CA12D581EB}"/>
              </a:ext>
            </a:extLst>
          </p:cNvPr>
          <p:cNvSpPr txBox="1">
            <a:spLocks/>
          </p:cNvSpPr>
          <p:nvPr userDrawn="1"/>
        </p:nvSpPr>
        <p:spPr>
          <a:xfrm>
            <a:off x="10401680" y="6256091"/>
            <a:ext cx="1790319" cy="5988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800" b="1" kern="120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3D935A-AFFD-4C3D-878E-ADA8648EB677}" type="slidenum">
              <a:rPr lang="en-US" altLang="ja-JP" smtClean="0"/>
              <a:pPr/>
              <a:t>‹#›</a:t>
            </a:fld>
            <a:r>
              <a:rPr lang="en-US" altLang="ja-JP"/>
              <a:t> / 13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149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352B76-6818-E4EA-DCF6-D6DFC96E7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691" y="1120104"/>
            <a:ext cx="11204618" cy="2387600"/>
          </a:xfrm>
          <a:prstGeom prst="rect">
            <a:avLst/>
          </a:prstGeom>
        </p:spPr>
        <p:txBody>
          <a:bodyPr/>
          <a:lstStyle/>
          <a:p>
            <a:r>
              <a:rPr lang="ja-JP" altLang="en-US" dirty="0"/>
              <a:t>神経細胞シミュレーションの</a:t>
            </a:r>
            <a:br>
              <a:rPr lang="en-US" altLang="ja-JP" dirty="0"/>
            </a:br>
            <a:r>
              <a:rPr lang="ja-JP" altLang="en-US" dirty="0"/>
              <a:t>計算コスト削減を目的とした</a:t>
            </a:r>
            <a:br>
              <a:rPr lang="en-US" altLang="ja-JP" dirty="0"/>
            </a:br>
            <a:r>
              <a:rPr lang="en-US" altLang="ja-JP" dirty="0"/>
              <a:t>RNN</a:t>
            </a:r>
            <a:r>
              <a:rPr lang="ja-JP" altLang="en-US" dirty="0"/>
              <a:t>代理</a:t>
            </a:r>
            <a:r>
              <a:rPr lang="ja-JP" altLang="ja-JP" dirty="0"/>
              <a:t>モデルの構築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38017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3E62C2-32F2-4903-0427-9697B15D3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作成した</a:t>
            </a:r>
            <a:r>
              <a:rPr kumimoji="1" lang="en-US" altLang="ja-JP" dirty="0"/>
              <a:t>RNN – sin</a:t>
            </a:r>
            <a:r>
              <a:rPr kumimoji="1" lang="ja-JP" altLang="en-US" dirty="0"/>
              <a:t>カーブの学習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7427F3-1E86-1A4C-2764-A74FCE294FB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kumimoji="1" lang="ja-JP" altLang="en-US" dirty="0"/>
              <a:t>教科書を参考にまずは簡単な</a:t>
            </a:r>
            <a:r>
              <a:rPr kumimoji="1" lang="en-US" altLang="ja-JP" dirty="0"/>
              <a:t>RNN</a:t>
            </a:r>
            <a:r>
              <a:rPr kumimoji="1" lang="ja-JP" altLang="en-US" dirty="0"/>
              <a:t>を作成した</a:t>
            </a:r>
            <a:endParaRPr kumimoji="1" lang="en-US" altLang="ja-JP" dirty="0"/>
          </a:p>
          <a:p>
            <a:r>
              <a:rPr lang="ja-JP" altLang="en-US" dirty="0"/>
              <a:t>訓練データ：</a:t>
            </a:r>
            <a:r>
              <a:rPr lang="en-US" altLang="ja-JP" dirty="0"/>
              <a:t>2</a:t>
            </a:r>
            <a:r>
              <a:rPr lang="ja-JP" altLang="en-US" dirty="0"/>
              <a:t>周期分の</a:t>
            </a:r>
            <a:r>
              <a:rPr lang="ja-JP" altLang="ja-JP" dirty="0"/>
              <a:t>±0.05</a:t>
            </a:r>
            <a:r>
              <a:rPr kumimoji="1" lang="ja-JP" altLang="en-US" dirty="0"/>
              <a:t>ノイズ付き</a:t>
            </a:r>
            <a:r>
              <a:rPr kumimoji="1" lang="en-US" altLang="ja-JP" dirty="0"/>
              <a:t>sin</a:t>
            </a:r>
            <a:r>
              <a:rPr kumimoji="1" lang="ja-JP" altLang="en-US" dirty="0"/>
              <a:t>カーブ（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周期を</a:t>
            </a:r>
            <a:r>
              <a:rPr kumimoji="1" lang="en-US" altLang="ja-JP" dirty="0"/>
              <a:t>100</a:t>
            </a:r>
            <a:r>
              <a:rPr kumimoji="1" lang="ja-JP" altLang="en-US" dirty="0"/>
              <a:t>分割 </a:t>
            </a:r>
            <a:r>
              <a:rPr kumimoji="1" lang="en-US" altLang="ja-JP" dirty="0"/>
              <a:t>201</a:t>
            </a:r>
            <a:r>
              <a:rPr kumimoji="1" lang="ja-JP" altLang="en-US" dirty="0"/>
              <a:t>点からなる）</a:t>
            </a:r>
            <a:endParaRPr kumimoji="1" lang="en-US" altLang="ja-JP" dirty="0"/>
          </a:p>
          <a:p>
            <a:r>
              <a:rPr kumimoji="1" lang="ja-JP" altLang="en-US" dirty="0"/>
              <a:t>入力：それまでの</a:t>
            </a:r>
            <a:r>
              <a:rPr kumimoji="1" lang="en-US" altLang="ja-JP" dirty="0"/>
              <a:t>25</a:t>
            </a:r>
            <a:r>
              <a:rPr kumimoji="1" lang="ja-JP" altLang="en-US" dirty="0"/>
              <a:t>点</a:t>
            </a:r>
            <a:endParaRPr kumimoji="1" lang="en-US" altLang="ja-JP" dirty="0"/>
          </a:p>
          <a:p>
            <a:r>
              <a:rPr lang="ja-JP" altLang="en-US" dirty="0"/>
              <a:t>隠れ層の次元：</a:t>
            </a:r>
            <a:r>
              <a:rPr lang="en-US" altLang="ja-JP" dirty="0"/>
              <a:t>50</a:t>
            </a:r>
            <a:endParaRPr kumimoji="1" lang="en-US" altLang="ja-JP" dirty="0"/>
          </a:p>
          <a:p>
            <a:r>
              <a:rPr lang="ja-JP" altLang="en-US" dirty="0"/>
              <a:t>出力：次の</a:t>
            </a:r>
            <a:r>
              <a:rPr lang="en-US" altLang="ja-JP" dirty="0"/>
              <a:t>1</a:t>
            </a:r>
            <a:r>
              <a:rPr lang="ja-JP" altLang="en-US" dirty="0"/>
              <a:t>点</a:t>
            </a:r>
            <a:endParaRPr lang="en-US" altLang="ja-JP" dirty="0"/>
          </a:p>
          <a:p>
            <a:r>
              <a:rPr lang="ja-JP" altLang="en-US" dirty="0"/>
              <a:t>活性化関数：</a:t>
            </a:r>
            <a:r>
              <a:rPr lang="en-US" altLang="ja-JP" dirty="0"/>
              <a:t>tanh</a:t>
            </a:r>
          </a:p>
          <a:p>
            <a:endParaRPr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1595372-9D68-8419-3390-0ED6ADF38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600" y="3499816"/>
            <a:ext cx="8395459" cy="335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444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36A02A-DAE3-3804-1CD3-99486228D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神経細胞と脳機能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F438013C-44B3-F027-03A5-D58D363C50C4}"/>
                  </a:ext>
                </a:extLst>
              </p:cNvPr>
              <p:cNvSpPr txBox="1"/>
              <p:nvPr/>
            </p:nvSpPr>
            <p:spPr>
              <a:xfrm>
                <a:off x="218806" y="1262130"/>
                <a:ext cx="9725739" cy="2307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ja-JP" altLang="en-US" sz="400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脳</a:t>
                </a:r>
                <a:r>
                  <a:rPr lang="ja-JP" altLang="en-US" sz="2800" b="1" dirty="0"/>
                  <a:t>：生物の思考や行動といった情報処理を司る器官</a:t>
                </a:r>
                <a:endParaRPr lang="en-US" altLang="ja-JP" sz="2800" b="1" dirty="0"/>
              </a:p>
              <a:p>
                <a:pPr>
                  <a:lnSpc>
                    <a:spcPct val="120000"/>
                  </a:lnSpc>
                </a:pPr>
                <a:r>
                  <a:rPr lang="en-US" altLang="ja-JP" sz="2800" b="1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800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ja-JP" sz="2800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sup>
                    </m:sSup>
                    <m:r>
                      <a:rPr lang="en-US" altLang="ja-JP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ja-JP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ja-JP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𝟏𝟏</m:t>
                        </m:r>
                      </m:sup>
                    </m:sSup>
                  </m:oMath>
                </a14:m>
                <a:r>
                  <a:rPr lang="ja-JP" altLang="en-US" sz="2800" b="1" dirty="0"/>
                  <a:t>個の神経細胞によってネットワークを構成</a:t>
                </a:r>
                <a:endParaRPr lang="en-US" altLang="ja-JP" sz="2800" b="1" dirty="0"/>
              </a:p>
              <a:p>
                <a:pPr>
                  <a:lnSpc>
                    <a:spcPct val="120000"/>
                  </a:lnSpc>
                </a:pPr>
                <a:r>
                  <a:rPr lang="en-US" altLang="ja-JP" sz="2800" b="1" dirty="0"/>
                  <a:t>	</a:t>
                </a:r>
                <a:r>
                  <a:rPr lang="ja-JP" altLang="en-US" sz="2800" b="1" dirty="0"/>
                  <a:t>細胞間は神経伝達物質と電気刺激によって情報を伝達</a:t>
                </a:r>
                <a:endParaRPr lang="en-US" altLang="ja-JP" sz="2800" b="1" dirty="0"/>
              </a:p>
              <a:p>
                <a:r>
                  <a:rPr kumimoji="1" lang="ja-JP" altLang="en-US" sz="2800" b="1" dirty="0"/>
                  <a:t>　　</a:t>
                </a:r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F438013C-44B3-F027-03A5-D58D363C5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806" y="1262130"/>
                <a:ext cx="9725739" cy="2307683"/>
              </a:xfrm>
              <a:prstGeom prst="rect">
                <a:avLst/>
              </a:prstGeom>
              <a:blipFill>
                <a:blip r:embed="rId3"/>
                <a:stretch>
                  <a:fillRect l="-2257" t="-42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グラフィックス 11" descr="神経 枠線">
            <a:extLst>
              <a:ext uri="{FF2B5EF4-FFF2-40B4-BE49-F238E27FC236}">
                <a16:creationId xmlns:a16="http://schemas.microsoft.com/office/drawing/2014/main" id="{413A7C5C-1EEA-4FD6-BF43-FC01ABA163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674331"/>
            <a:ext cx="2748195" cy="2748195"/>
          </a:xfrm>
          <a:prstGeom prst="rect">
            <a:avLst/>
          </a:prstGeom>
          <a:effectLst>
            <a:glow rad="127000">
              <a:srgbClr val="FFC000">
                <a:alpha val="2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矢印: 右 14">
            <a:extLst>
              <a:ext uri="{FF2B5EF4-FFF2-40B4-BE49-F238E27FC236}">
                <a16:creationId xmlns:a16="http://schemas.microsoft.com/office/drawing/2014/main" id="{E37034D0-F50F-C7FA-176F-2D7FA682C0F5}"/>
              </a:ext>
            </a:extLst>
          </p:cNvPr>
          <p:cNvSpPr/>
          <p:nvPr/>
        </p:nvSpPr>
        <p:spPr>
          <a:xfrm>
            <a:off x="2749348" y="4709617"/>
            <a:ext cx="3028828" cy="698712"/>
          </a:xfrm>
          <a:prstGeom prst="rightArrow">
            <a:avLst>
              <a:gd name="adj1" fmla="val 24688"/>
              <a:gd name="adj2" fmla="val 7643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F3059BE-C893-67C3-3CA7-200DEA5E9869}"/>
              </a:ext>
            </a:extLst>
          </p:cNvPr>
          <p:cNvSpPr txBox="1"/>
          <p:nvPr/>
        </p:nvSpPr>
        <p:spPr>
          <a:xfrm>
            <a:off x="2817509" y="4322940"/>
            <a:ext cx="2359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神経伝達物質</a:t>
            </a:r>
          </a:p>
        </p:txBody>
      </p:sp>
      <p:pic>
        <p:nvPicPr>
          <p:cNvPr id="19" name="グラフィックス 18" descr="稲妻 単色塗りつぶし">
            <a:extLst>
              <a:ext uri="{FF2B5EF4-FFF2-40B4-BE49-F238E27FC236}">
                <a16:creationId xmlns:a16="http://schemas.microsoft.com/office/drawing/2014/main" id="{CE31F6DF-A40D-5A85-72BA-A150BF22E1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9960" y="3233410"/>
            <a:ext cx="914400" cy="914400"/>
          </a:xfrm>
          <a:prstGeom prst="rect">
            <a:avLst/>
          </a:prstGeom>
        </p:spPr>
      </p:pic>
      <p:sp>
        <p:nvSpPr>
          <p:cNvPr id="21" name="矢印: 右 20">
            <a:extLst>
              <a:ext uri="{FF2B5EF4-FFF2-40B4-BE49-F238E27FC236}">
                <a16:creationId xmlns:a16="http://schemas.microsoft.com/office/drawing/2014/main" id="{DC6E4A7B-C487-B2C5-3581-92439197279B}"/>
              </a:ext>
            </a:extLst>
          </p:cNvPr>
          <p:cNvSpPr/>
          <p:nvPr/>
        </p:nvSpPr>
        <p:spPr>
          <a:xfrm>
            <a:off x="8246358" y="4699072"/>
            <a:ext cx="3028828" cy="698712"/>
          </a:xfrm>
          <a:prstGeom prst="rightArrow">
            <a:avLst>
              <a:gd name="adj1" fmla="val 24688"/>
              <a:gd name="adj2" fmla="val 7643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グラフィックス 22" descr="神経 枠線">
            <a:extLst>
              <a:ext uri="{FF2B5EF4-FFF2-40B4-BE49-F238E27FC236}">
                <a16:creationId xmlns:a16="http://schemas.microsoft.com/office/drawing/2014/main" id="{769A8EFA-E59A-DABC-B57A-11D7CF6159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1113" y="3794024"/>
            <a:ext cx="2748195" cy="2748195"/>
          </a:xfrm>
          <a:prstGeom prst="rect">
            <a:avLst/>
          </a:prstGeom>
          <a:effectLst>
            <a:glow rad="127000">
              <a:srgbClr val="FFC000">
                <a:alpha val="7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F8FBD85-D703-D667-7044-698086A1F03B}"/>
              </a:ext>
            </a:extLst>
          </p:cNvPr>
          <p:cNvSpPr txBox="1"/>
          <p:nvPr/>
        </p:nvSpPr>
        <p:spPr>
          <a:xfrm>
            <a:off x="8597421" y="4186397"/>
            <a:ext cx="2095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/>
              <a:t>次の細胞へ</a:t>
            </a:r>
            <a:endParaRPr kumimoji="1" lang="ja-JP" altLang="en-US" sz="2800" b="1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4A1E6FD-E313-4CD4-0169-068EC7323596}"/>
              </a:ext>
            </a:extLst>
          </p:cNvPr>
          <p:cNvSpPr txBox="1"/>
          <p:nvPr/>
        </p:nvSpPr>
        <p:spPr>
          <a:xfrm>
            <a:off x="6096000" y="3334987"/>
            <a:ext cx="2359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電気刺激</a:t>
            </a:r>
          </a:p>
        </p:txBody>
      </p:sp>
    </p:spTree>
    <p:extLst>
      <p:ext uri="{BB962C8B-B14F-4D97-AF65-F5344CB8AC3E}">
        <p14:creationId xmlns:p14="http://schemas.microsoft.com/office/powerpoint/2010/main" val="3187486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556B4D9B-87ED-2229-28A2-43ACE7C7CF01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5874090" y="1062037"/>
            <a:ext cx="6317910" cy="5046663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495F65B-01E5-524D-E1A4-92AF82EAF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神経細胞の数理モデル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870CBB2-3FD4-3323-7EAF-D38C49A2B59E}"/>
              </a:ext>
            </a:extLst>
          </p:cNvPr>
          <p:cNvSpPr txBox="1"/>
          <p:nvPr/>
        </p:nvSpPr>
        <p:spPr>
          <a:xfrm>
            <a:off x="218806" y="1257985"/>
            <a:ext cx="6121400" cy="4199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800" b="1" dirty="0"/>
              <a:t>電流刺激に対する</a:t>
            </a:r>
            <a:r>
              <a:rPr lang="ja-JP" altLang="ja-JP" sz="2800" b="1" dirty="0"/>
              <a:t>膜電位応答</a:t>
            </a:r>
            <a:endParaRPr lang="en-US" altLang="ja-JP" sz="2800" b="1" dirty="0"/>
          </a:p>
          <a:p>
            <a:pPr lvl="1">
              <a:lnSpc>
                <a:spcPct val="120000"/>
              </a:lnSpc>
            </a:pPr>
            <a:r>
              <a:rPr lang="ja-JP" altLang="en-US" sz="2800" b="1" dirty="0"/>
              <a:t>　</a:t>
            </a:r>
            <a:r>
              <a:rPr lang="ja-JP" altLang="ja-JP" sz="2800" b="1" dirty="0"/>
              <a:t>連立の</a:t>
            </a:r>
            <a:r>
              <a:rPr lang="ja-JP" altLang="en-US" sz="2800" b="1" dirty="0"/>
              <a:t>非線形な</a:t>
            </a:r>
            <a:endParaRPr lang="en-US" altLang="ja-JP" sz="2800" b="1" dirty="0"/>
          </a:p>
          <a:p>
            <a:pPr lvl="1">
              <a:lnSpc>
                <a:spcPct val="120000"/>
              </a:lnSpc>
            </a:pPr>
            <a:r>
              <a:rPr lang="ja-JP" altLang="en-US" sz="2800" b="1" dirty="0"/>
              <a:t>　</a:t>
            </a:r>
            <a:r>
              <a:rPr lang="ja-JP" altLang="ja-JP" sz="2800" b="1" dirty="0"/>
              <a:t>常微分方程式を解</a:t>
            </a:r>
            <a:r>
              <a:rPr lang="ja-JP" altLang="en-US" sz="2800" b="1" dirty="0"/>
              <a:t>くと求まる</a:t>
            </a:r>
            <a:endParaRPr lang="en-US" altLang="ja-JP" sz="2800" b="1" dirty="0"/>
          </a:p>
          <a:p>
            <a:pPr lvl="1">
              <a:lnSpc>
                <a:spcPct val="120000"/>
              </a:lnSpc>
            </a:pPr>
            <a:endParaRPr lang="en-US" altLang="ja-JP" sz="2800" b="1" dirty="0"/>
          </a:p>
          <a:p>
            <a:pPr>
              <a:lnSpc>
                <a:spcPct val="120000"/>
              </a:lnSpc>
            </a:pPr>
            <a:r>
              <a:rPr lang="ja-JP" altLang="en-US" sz="2800" b="1" dirty="0"/>
              <a:t>内部に複数の状態</a:t>
            </a:r>
            <a:r>
              <a:rPr lang="ja-JP" altLang="ja-JP" sz="2800" b="1" dirty="0"/>
              <a:t>変数</a:t>
            </a:r>
            <a:r>
              <a:rPr lang="ja-JP" altLang="en-US" sz="2800" b="1" dirty="0"/>
              <a:t>を持つ</a:t>
            </a:r>
            <a:endParaRPr lang="en-US" altLang="ja-JP" sz="2800" b="1" dirty="0"/>
          </a:p>
          <a:p>
            <a:pPr>
              <a:lnSpc>
                <a:spcPct val="120000"/>
              </a:lnSpc>
            </a:pPr>
            <a:r>
              <a:rPr lang="ja-JP" altLang="en-US" sz="2800" b="1" dirty="0"/>
              <a:t>各状態変数を数値積分</a:t>
            </a:r>
            <a:endParaRPr lang="en-US" altLang="ja-JP" sz="2800" b="1" dirty="0"/>
          </a:p>
          <a:p>
            <a:pPr lvl="1">
              <a:lnSpc>
                <a:spcPct val="120000"/>
              </a:lnSpc>
            </a:pPr>
            <a:r>
              <a:rPr lang="ja-JP" altLang="en-US" sz="2800" b="1" dirty="0"/>
              <a:t>　時間計算量</a:t>
            </a:r>
            <a:endParaRPr lang="en-US" altLang="ja-JP" sz="2800" b="1" dirty="0"/>
          </a:p>
          <a:p>
            <a:pPr lvl="1">
              <a:lnSpc>
                <a:spcPct val="120000"/>
              </a:lnSpc>
            </a:pPr>
            <a:r>
              <a:rPr lang="ja-JP" altLang="en-US" sz="2800" b="1" dirty="0"/>
              <a:t>　空間計算量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ECE46B3-B46E-500D-18BA-93EE117642A0}"/>
              </a:ext>
            </a:extLst>
          </p:cNvPr>
          <p:cNvSpPr txBox="1"/>
          <p:nvPr/>
        </p:nvSpPr>
        <p:spPr>
          <a:xfrm>
            <a:off x="6035040" y="6108192"/>
            <a:ext cx="4206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ja-JP" sz="1800" b="0" dirty="0">
                <a:solidFill>
                  <a:srgbClr val="595959"/>
                </a:solidFill>
                <a:latin typeface="+mn-ea"/>
                <a:ea typeface="+mn-ea"/>
              </a:rPr>
              <a:t>Hodgkin-Huxley</a:t>
            </a:r>
            <a:r>
              <a:rPr lang="ja-JP" altLang="en-US" sz="1800" b="0" dirty="0">
                <a:solidFill>
                  <a:srgbClr val="595959"/>
                </a:solidFill>
                <a:latin typeface="+mn-ea"/>
                <a:ea typeface="+mn-ea"/>
              </a:rPr>
              <a:t>モデル</a:t>
            </a:r>
            <a:r>
              <a:rPr lang="en-US" altLang="ja-JP" sz="1800" b="0" dirty="0">
                <a:solidFill>
                  <a:srgbClr val="595959"/>
                </a:solidFill>
                <a:latin typeface="+mn-ea"/>
                <a:ea typeface="+mn-ea"/>
              </a:rPr>
              <a:t>(1952)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19E03EE-16E6-C422-169E-053D55F7CCD3}"/>
              </a:ext>
            </a:extLst>
          </p:cNvPr>
          <p:cNvSpPr txBox="1"/>
          <p:nvPr/>
        </p:nvSpPr>
        <p:spPr>
          <a:xfrm>
            <a:off x="104506" y="4489958"/>
            <a:ext cx="53886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/>
              <a:t>　</a:t>
            </a:r>
            <a:r>
              <a:rPr lang="ja-JP" altLang="en-US" sz="4000" b="1" dirty="0"/>
              <a:t>→</a:t>
            </a:r>
            <a:r>
              <a:rPr lang="ja-JP" altLang="en-US" sz="2800" b="1" dirty="0"/>
              <a:t>　　　　　　 ともに大きい</a:t>
            </a:r>
            <a:endParaRPr kumimoji="1" lang="ja-JP" altLang="en-US" sz="2800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1CBB224-F65F-2D14-E553-33795EFD5B0A}"/>
              </a:ext>
            </a:extLst>
          </p:cNvPr>
          <p:cNvSpPr txBox="1"/>
          <p:nvPr/>
        </p:nvSpPr>
        <p:spPr>
          <a:xfrm>
            <a:off x="531495" y="1931771"/>
            <a:ext cx="65265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b="1" dirty="0"/>
              <a:t>→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73913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AE473C-9043-F48E-8807-C6E1EF452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大規模シミュレーション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D844384-35F1-8384-676F-B5432E9178AA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218806" y="1005804"/>
                <a:ext cx="6195856" cy="1226407"/>
              </a:xfrm>
            </p:spPr>
            <p:txBody>
              <a:bodyPr/>
              <a:lstStyle/>
              <a:p>
                <a:r>
                  <a:rPr lang="ja-JP" altLang="en-US" dirty="0"/>
                  <a:t>全脳をシミュレーションする場合</a:t>
                </a:r>
                <a:endParaRPr lang="en-US" altLang="ja-JP" dirty="0"/>
              </a:p>
              <a:p>
                <a:r>
                  <a:rPr lang="ja-JP" altLang="en-US" dirty="0"/>
                  <a:t>神経細胞モデルを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𝟗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𝟏𝟏</m:t>
                        </m:r>
                      </m:sup>
                    </m:sSup>
                  </m:oMath>
                </a14:m>
                <a:r>
                  <a:rPr lang="ja-JP" altLang="en-US" dirty="0"/>
                  <a:t>個</a:t>
                </a:r>
                <a:endParaRPr lang="en-US" altLang="ja-JP" dirty="0"/>
              </a:p>
              <a:p>
                <a:endParaRPr lang="en-US" altLang="ja-JP" dirty="0"/>
              </a:p>
              <a:p>
                <a:endParaRPr lang="en-US" altLang="ja-JP" dirty="0"/>
              </a:p>
              <a:p>
                <a:endParaRPr lang="en-US" altLang="ja-JP" dirty="0"/>
              </a:p>
              <a:p>
                <a:r>
                  <a:rPr lang="ja-JP" altLang="en-US" dirty="0"/>
                  <a:t>計算コストが大きすぎるので</a:t>
                </a:r>
                <a:endParaRPr lang="en-US" altLang="ja-JP" dirty="0"/>
              </a:p>
              <a:p>
                <a:r>
                  <a:rPr lang="ja-JP" altLang="en-US" dirty="0"/>
                  <a:t>神経細胞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つあたりの計算量を</a:t>
                </a:r>
                <a:endParaRPr lang="en-US" altLang="ja-JP" dirty="0"/>
              </a:p>
              <a:p>
                <a:r>
                  <a:rPr lang="ja-JP" altLang="en-US" dirty="0"/>
                  <a:t>減らさなければ ならない</a:t>
                </a:r>
                <a:endParaRPr lang="en-US" altLang="ja-JP" dirty="0"/>
              </a:p>
              <a:p>
                <a:endParaRPr kumimoji="1" lang="en-US" altLang="ja-JP" dirty="0"/>
              </a:p>
              <a:p>
                <a:endParaRPr kumimoji="1" lang="en-US" altLang="ja-JP" dirty="0"/>
              </a:p>
              <a:p>
                <a:endParaRPr kumimoji="1" lang="ja-JP" altLang="en-US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D844384-35F1-8384-676F-B5432E9178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218806" y="1005804"/>
                <a:ext cx="6195856" cy="1226407"/>
              </a:xfrm>
              <a:blipFill>
                <a:blip r:embed="rId2"/>
                <a:stretch>
                  <a:fillRect l="-2067" t="-995" b="-32686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図 6">
            <a:extLst>
              <a:ext uri="{FF2B5EF4-FFF2-40B4-BE49-F238E27FC236}">
                <a16:creationId xmlns:a16="http://schemas.microsoft.com/office/drawing/2014/main" id="{4F58D561-4CDC-8DF0-0B0A-AA6F9D198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662" y="860417"/>
            <a:ext cx="5777338" cy="334804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FB684E7-FA95-E02E-C347-32965D687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662" y="4249742"/>
            <a:ext cx="2136589" cy="2608258"/>
          </a:xfrm>
          <a:prstGeom prst="rect">
            <a:avLst/>
          </a:prstGeom>
        </p:spPr>
      </p:pic>
      <p:sp>
        <p:nvSpPr>
          <p:cNvPr id="12" name="矢印: 右 11">
            <a:extLst>
              <a:ext uri="{FF2B5EF4-FFF2-40B4-BE49-F238E27FC236}">
                <a16:creationId xmlns:a16="http://schemas.microsoft.com/office/drawing/2014/main" id="{37F30E8E-E621-74E0-8ADE-B500D22C5D49}"/>
              </a:ext>
            </a:extLst>
          </p:cNvPr>
          <p:cNvSpPr/>
          <p:nvPr/>
        </p:nvSpPr>
        <p:spPr>
          <a:xfrm rot="5400000">
            <a:off x="2192810" y="2918515"/>
            <a:ext cx="1226407" cy="698712"/>
          </a:xfrm>
          <a:prstGeom prst="rightArrow">
            <a:avLst>
              <a:gd name="adj1" fmla="val 24688"/>
              <a:gd name="adj2" fmla="val 7643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11922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4F2C29-A209-A97F-BB9B-88952F2E4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RNN</a:t>
            </a:r>
            <a:r>
              <a:rPr kumimoji="1" lang="ja-JP" altLang="en-US" dirty="0"/>
              <a:t>代理モデル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3CD9DF73-5FB7-19B1-FC49-445A4CD9F957}"/>
              </a:ext>
            </a:extLst>
          </p:cNvPr>
          <p:cNvSpPr/>
          <p:nvPr/>
        </p:nvSpPr>
        <p:spPr>
          <a:xfrm>
            <a:off x="6173586" y="1080247"/>
            <a:ext cx="5741894" cy="5181600"/>
          </a:xfrm>
          <a:prstGeom prst="roundRect">
            <a:avLst>
              <a:gd name="adj" fmla="val 2205"/>
            </a:avLst>
          </a:prstGeom>
          <a:solidFill>
            <a:srgbClr val="F0F9FF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/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61DC9ABF-5FD3-8766-2A06-DB2A0866A118}"/>
              </a:ext>
            </a:extLst>
          </p:cNvPr>
          <p:cNvSpPr/>
          <p:nvPr/>
        </p:nvSpPr>
        <p:spPr>
          <a:xfrm>
            <a:off x="218806" y="1080247"/>
            <a:ext cx="5741894" cy="5181600"/>
          </a:xfrm>
          <a:prstGeom prst="roundRect">
            <a:avLst>
              <a:gd name="adj" fmla="val 2205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B3F9375-3FB2-885E-86AA-697F8C035F39}"/>
              </a:ext>
            </a:extLst>
          </p:cNvPr>
          <p:cNvSpPr txBox="1"/>
          <p:nvPr/>
        </p:nvSpPr>
        <p:spPr>
          <a:xfrm>
            <a:off x="608199" y="125057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従来のモデル</a:t>
            </a:r>
            <a:endParaRPr kumimoji="1" lang="ja-JP" altLang="en-US" sz="3200" b="1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B3FB20B-2B0A-339C-4D5D-B8F2D9EB49DA}"/>
              </a:ext>
            </a:extLst>
          </p:cNvPr>
          <p:cNvSpPr txBox="1"/>
          <p:nvPr/>
        </p:nvSpPr>
        <p:spPr>
          <a:xfrm>
            <a:off x="6341128" y="1250577"/>
            <a:ext cx="43204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dirty="0"/>
              <a:t>RNN</a:t>
            </a:r>
            <a:r>
              <a:rPr lang="ja-JP" altLang="en-US" sz="3200" b="1" dirty="0"/>
              <a:t>による代理モデル</a:t>
            </a:r>
            <a:endParaRPr kumimoji="1" lang="ja-JP" altLang="en-US" sz="3200" b="1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FDA4A43-24CB-6786-B926-6629A4D316B9}"/>
              </a:ext>
            </a:extLst>
          </p:cNvPr>
          <p:cNvSpPr txBox="1"/>
          <p:nvPr/>
        </p:nvSpPr>
        <p:spPr>
          <a:xfrm>
            <a:off x="460282" y="2331582"/>
            <a:ext cx="11455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電流 </a:t>
            </a:r>
            <a:r>
              <a:rPr kumimoji="1"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ja-JP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　　　　　　    </a:t>
            </a:r>
            <a:r>
              <a:rPr lang="ja-JP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膜電位</a:t>
            </a:r>
            <a:r>
              <a:rPr kumimoji="1" lang="ja-JP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 </a:t>
            </a:r>
            <a:r>
              <a:rPr lang="ja-JP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電流 </a:t>
            </a:r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ja-JP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    　　　　　   → 膜電位　 </a:t>
            </a:r>
            <a:endParaRPr kumimoji="1" lang="ja-JP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A919E61B-E6BB-5893-6983-24FE0DECF467}"/>
              </a:ext>
            </a:extLst>
          </p:cNvPr>
          <p:cNvSpPr/>
          <p:nvPr/>
        </p:nvSpPr>
        <p:spPr>
          <a:xfrm>
            <a:off x="1931638" y="2005682"/>
            <a:ext cx="2219326" cy="11906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/>
              <a:t>連立</a:t>
            </a:r>
            <a:endParaRPr lang="en-US" altLang="ja-JP" sz="2800" b="1" dirty="0"/>
          </a:p>
          <a:p>
            <a:pPr algn="ctr"/>
            <a:r>
              <a:rPr kumimoji="1" lang="ja-JP" altLang="en-US" sz="2800" b="1" dirty="0"/>
              <a:t>微分方程式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C4C2D95D-C5F1-DB69-19C1-2DE5100B57E5}"/>
              </a:ext>
            </a:extLst>
          </p:cNvPr>
          <p:cNvSpPr/>
          <p:nvPr/>
        </p:nvSpPr>
        <p:spPr>
          <a:xfrm>
            <a:off x="7665249" y="2005681"/>
            <a:ext cx="2219326" cy="11906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b="1" dirty="0"/>
              <a:t>RNN</a:t>
            </a:r>
          </a:p>
        </p:txBody>
      </p:sp>
      <p:sp>
        <p:nvSpPr>
          <p:cNvPr id="33" name="矢印: 環状 32">
            <a:extLst>
              <a:ext uri="{FF2B5EF4-FFF2-40B4-BE49-F238E27FC236}">
                <a16:creationId xmlns:a16="http://schemas.microsoft.com/office/drawing/2014/main" id="{416F0E48-7C6E-3674-0C98-A7C92DBF7DDA}"/>
              </a:ext>
            </a:extLst>
          </p:cNvPr>
          <p:cNvSpPr/>
          <p:nvPr/>
        </p:nvSpPr>
        <p:spPr>
          <a:xfrm rot="10800000">
            <a:off x="8300567" y="2914947"/>
            <a:ext cx="948690" cy="1190625"/>
          </a:xfrm>
          <a:prstGeom prst="circularArrow">
            <a:avLst>
              <a:gd name="adj1" fmla="val 2901"/>
              <a:gd name="adj2" fmla="val 1142319"/>
              <a:gd name="adj3" fmla="val 20552564"/>
              <a:gd name="adj4" fmla="val 10800000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2" name="矢印: 環状 41">
            <a:extLst>
              <a:ext uri="{FF2B5EF4-FFF2-40B4-BE49-F238E27FC236}">
                <a16:creationId xmlns:a16="http://schemas.microsoft.com/office/drawing/2014/main" id="{9DF3C6E1-DC15-E801-C5C6-8A8938DE54AD}"/>
              </a:ext>
            </a:extLst>
          </p:cNvPr>
          <p:cNvSpPr/>
          <p:nvPr/>
        </p:nvSpPr>
        <p:spPr>
          <a:xfrm rot="10800000">
            <a:off x="2468398" y="2967963"/>
            <a:ext cx="948690" cy="1190625"/>
          </a:xfrm>
          <a:prstGeom prst="circularArrow">
            <a:avLst>
              <a:gd name="adj1" fmla="val 2901"/>
              <a:gd name="adj2" fmla="val 1142319"/>
              <a:gd name="adj3" fmla="val 20552564"/>
              <a:gd name="adj4" fmla="val 10800000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373DE6E5-52FA-A96D-7C59-57487062D438}"/>
              </a:ext>
            </a:extLst>
          </p:cNvPr>
          <p:cNvSpPr txBox="1"/>
          <p:nvPr/>
        </p:nvSpPr>
        <p:spPr>
          <a:xfrm>
            <a:off x="8024842" y="3832306"/>
            <a:ext cx="27644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kumimoji="1" lang="en-US" altLang="ja-JP" sz="2800" b="1" dirty="0">
              <a:latin typeface="+mn-ea"/>
              <a:cs typeface="Times New Roman" panose="02020603050405020304" pitchFamily="18" charset="0"/>
            </a:endParaRPr>
          </a:p>
          <a:p>
            <a:r>
              <a:rPr lang="ja-JP" altLang="en-US" sz="2800" b="1" dirty="0">
                <a:latin typeface="+mn-ea"/>
                <a:cs typeface="Times New Roman" panose="02020603050405020304" pitchFamily="18" charset="0"/>
              </a:rPr>
              <a:t>隠れ状態</a:t>
            </a:r>
            <a:endParaRPr kumimoji="1" lang="en-US" altLang="ja-JP" sz="2800" b="1" dirty="0">
              <a:latin typeface="+mn-ea"/>
              <a:cs typeface="Times New Roman" panose="02020603050405020304" pitchFamily="18" charset="0"/>
            </a:endParaRPr>
          </a:p>
          <a:p>
            <a:endParaRPr kumimoji="1" lang="en-US" altLang="ja-JP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ja-JP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ja-JP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457098D8-FA26-AFAC-039F-047A965FE8DB}"/>
              </a:ext>
            </a:extLst>
          </p:cNvPr>
          <p:cNvSpPr txBox="1"/>
          <p:nvPr/>
        </p:nvSpPr>
        <p:spPr>
          <a:xfrm>
            <a:off x="2187255" y="3907343"/>
            <a:ext cx="27644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kumimoji="1" lang="en-US" altLang="ja-JP" sz="2800" b="1" dirty="0">
              <a:latin typeface="+mn-ea"/>
              <a:cs typeface="Times New Roman" panose="02020603050405020304" pitchFamily="18" charset="0"/>
            </a:endParaRPr>
          </a:p>
          <a:p>
            <a:r>
              <a:rPr lang="ja-JP" altLang="en-US" sz="2800" b="1" dirty="0">
                <a:latin typeface="+mn-ea"/>
                <a:cs typeface="Times New Roman" panose="02020603050405020304" pitchFamily="18" charset="0"/>
              </a:rPr>
              <a:t>状態</a:t>
            </a:r>
            <a:r>
              <a:rPr kumimoji="1" lang="ja-JP" altLang="en-US" sz="2800" b="1" dirty="0">
                <a:latin typeface="+mn-ea"/>
                <a:cs typeface="Times New Roman" panose="02020603050405020304" pitchFamily="18" charset="0"/>
              </a:rPr>
              <a:t>変数</a:t>
            </a:r>
            <a:endParaRPr kumimoji="1" lang="en-US" altLang="ja-JP" sz="2800" b="1" dirty="0">
              <a:latin typeface="+mn-ea"/>
              <a:cs typeface="Times New Roman" panose="02020603050405020304" pitchFamily="18" charset="0"/>
            </a:endParaRPr>
          </a:p>
          <a:p>
            <a:endParaRPr kumimoji="1" lang="en-US" altLang="ja-JP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ja-JP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ja-JP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056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F62566-BE55-5AA4-3F85-AAF7F6D33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なぜ</a:t>
            </a:r>
            <a:r>
              <a:rPr kumimoji="1" lang="en-US" altLang="ja-JP" dirty="0"/>
              <a:t>RNN</a:t>
            </a:r>
            <a:r>
              <a:rPr lang="ja-JP" altLang="en-US" dirty="0"/>
              <a:t>？</a:t>
            </a:r>
            <a:endParaRPr kumimoji="1" lang="ja-JP" alt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5532120" cy="406908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161288"/>
            <a:ext cx="4526279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56082"/>
                </a:solidFill>
                <a:latin typeface="+mn-ea"/>
                <a:ea typeface="+mn-ea"/>
              </a:rPr>
              <a:t>状態を持つ構造が同じ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512064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A1A1A"/>
                </a:solidFill>
                <a:latin typeface="+mn-ea"/>
                <a:ea typeface="+mn-ea"/>
              </a:rPr>
              <a:t>膜電位は入力の履歴に依存する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  <a:latin typeface="+mn-ea"/>
                <a:ea typeface="+mn-ea"/>
              </a:rPr>
              <a:t>例：不応期，閾値下での電位の蓄積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51206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56082"/>
                </a:solidFill>
                <a:latin typeface="+mn-ea"/>
                <a:ea typeface="+mn-ea"/>
              </a:rPr>
              <a:t>→ HH も RNN も履歴を「状態」として持ち，</a:t>
            </a:r>
          </a:p>
          <a:p>
            <a:pPr algn="l">
              <a:spcAft>
                <a:spcPts val="0"/>
              </a:spcAft>
            </a:pPr>
            <a:r>
              <a:rPr sz="1900" b="1">
                <a:solidFill>
                  <a:srgbClr val="156082"/>
                </a:solidFill>
                <a:latin typeface="+mn-ea"/>
                <a:ea typeface="+mn-ea"/>
              </a:rPr>
              <a:t>　 1 ステップずつ更新する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57600"/>
            <a:ext cx="6858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95959"/>
                </a:solidFill>
                <a:latin typeface="+mn-ea"/>
                <a:ea typeface="+mn-ea"/>
              </a:rPr>
              <a:t>HH</a:t>
            </a:r>
          </a:p>
        </p:txBody>
      </p:sp>
      <p:pic>
        <p:nvPicPr>
          <p:cNvPr id="9" name="Picture 8" descr="eq_why_h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685032"/>
            <a:ext cx="3297836" cy="4023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4297680"/>
            <a:ext cx="6858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95959"/>
                </a:solidFill>
                <a:latin typeface="+mn-ea"/>
                <a:ea typeface="+mn-ea"/>
              </a:rPr>
              <a:t>RNN</a:t>
            </a:r>
          </a:p>
        </p:txBody>
      </p:sp>
      <p:pic>
        <p:nvPicPr>
          <p:cNvPr id="11" name="Picture 10" descr="eq_why_rn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325112"/>
            <a:ext cx="3248369" cy="40233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0" y="1005840"/>
            <a:ext cx="5532120" cy="406908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46520" y="1188720"/>
            <a:ext cx="502920" cy="50292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161288"/>
            <a:ext cx="4526279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56082"/>
                </a:solidFill>
                <a:latin typeface="+mn-ea"/>
                <a:ea typeface="+mn-ea"/>
              </a:rPr>
              <a:t>GPU で高速化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874519"/>
            <a:ext cx="512064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595959"/>
                </a:solidFill>
                <a:latin typeface="+mn-ea"/>
                <a:ea typeface="+mn-ea"/>
              </a:rPr>
              <a:t>HH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1A1A1A"/>
                </a:solidFill>
                <a:latin typeface="+mn-ea"/>
                <a:ea typeface="+mn-ea"/>
              </a:rPr>
              <a:t>指数関数を含む微分方程式を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1A1A1A"/>
                </a:solidFill>
                <a:latin typeface="+mn-ea"/>
                <a:ea typeface="+mn-ea"/>
              </a:rPr>
              <a:t>細胞ごとに逐次計算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595959"/>
                </a:solidFill>
                <a:latin typeface="+mn-ea"/>
                <a:ea typeface="+mn-ea"/>
              </a:rPr>
              <a:t>RNN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1A1A1A"/>
                </a:solidFill>
                <a:latin typeface="+mn-ea"/>
                <a:ea typeface="+mn-ea"/>
              </a:rPr>
              <a:t>全細胞で重みを共有し，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1A1A1A"/>
                </a:solidFill>
                <a:latin typeface="+mn-ea"/>
                <a:ea typeface="+mn-ea"/>
              </a:rPr>
              <a:t>行列積でまとめて計算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931920"/>
            <a:ext cx="5074920" cy="914400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59" y="3931920"/>
            <a:ext cx="489204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56082"/>
                </a:solidFill>
                <a:latin typeface="+mn-ea"/>
                <a:ea typeface="+mn-ea"/>
              </a:rPr>
              <a:t>細胞数が増えるほど高速化が期待できる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257800"/>
            <a:ext cx="11292840" cy="777240"/>
          </a:xfrm>
          <a:prstGeom prst="roundRect">
            <a:avLst>
              <a:gd name="adj" fmla="val 4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5257800"/>
            <a:ext cx="10881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+mn-ea"/>
                <a:ea typeface="+mn-ea"/>
              </a:rPr>
              <a:t>研究の問い：RNN の隠れ状態で HH モデルのダイナミクスを再現できるか</a:t>
            </a:r>
          </a:p>
        </p:txBody>
      </p:sp>
    </p:spTree>
    <p:extLst>
      <p:ext uri="{BB962C8B-B14F-4D97-AF65-F5344CB8AC3E}">
        <p14:creationId xmlns:p14="http://schemas.microsoft.com/office/powerpoint/2010/main" val="3133935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D0F3C7-78AA-9462-A6F8-8B4CCCE68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基になる数理モデル</a:t>
            </a:r>
            <a:endParaRPr kumimoji="1" lang="ja-JP" altLang="en-US" dirty="0"/>
          </a:p>
        </p:txBody>
      </p:sp>
      <p:sp>
        <p:nvSpPr>
          <p:cNvPr id="75" name="Rounded Rectangle 3">
            <a:extLst>
              <a:ext uri="{FF2B5EF4-FFF2-40B4-BE49-F238E27FC236}">
                <a16:creationId xmlns:a16="http://schemas.microsoft.com/office/drawing/2014/main" id="{2DAE8BD0-0FAD-D7AF-E0C3-EDD94975E3D3}"/>
              </a:ext>
            </a:extLst>
          </p:cNvPr>
          <p:cNvSpPr/>
          <p:nvPr/>
        </p:nvSpPr>
        <p:spPr>
          <a:xfrm>
            <a:off x="6173586" y="1080247"/>
            <a:ext cx="5741894" cy="5181600"/>
          </a:xfrm>
          <a:prstGeom prst="roundRect">
            <a:avLst>
              <a:gd name="adj" fmla="val 2205"/>
            </a:avLst>
          </a:prstGeom>
          <a:solidFill>
            <a:srgbClr val="F0F9FF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/>
          </a:p>
        </p:txBody>
      </p:sp>
      <p:sp>
        <p:nvSpPr>
          <p:cNvPr id="77" name="Rounded Rectangle 3">
            <a:extLst>
              <a:ext uri="{FF2B5EF4-FFF2-40B4-BE49-F238E27FC236}">
                <a16:creationId xmlns:a16="http://schemas.microsoft.com/office/drawing/2014/main" id="{4916DD34-FC39-3F73-8607-B7C380D38404}"/>
              </a:ext>
            </a:extLst>
          </p:cNvPr>
          <p:cNvSpPr/>
          <p:nvPr/>
        </p:nvSpPr>
        <p:spPr>
          <a:xfrm>
            <a:off x="218806" y="1080247"/>
            <a:ext cx="5741894" cy="5181600"/>
          </a:xfrm>
          <a:prstGeom prst="roundRect">
            <a:avLst>
              <a:gd name="adj" fmla="val 2205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E10B4BAD-7000-C570-ABCD-E59DB42C1F2F}"/>
              </a:ext>
            </a:extLst>
          </p:cNvPr>
          <p:cNvSpPr txBox="1"/>
          <p:nvPr/>
        </p:nvSpPr>
        <p:spPr>
          <a:xfrm>
            <a:off x="6341128" y="1250577"/>
            <a:ext cx="51427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dirty="0"/>
              <a:t>Multi-</a:t>
            </a:r>
            <a:r>
              <a:rPr kumimoji="1" lang="en-US" altLang="ja-JP" sz="3200" b="1" dirty="0" err="1"/>
              <a:t>Compartment</a:t>
            </a:r>
            <a:r>
              <a:rPr kumimoji="1" lang="ja-JP" altLang="en-US" sz="3200" b="1" dirty="0"/>
              <a:t>モデル</a:t>
            </a:r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99566511-2D95-9E41-CBF8-F791544E5E1F}"/>
              </a:ext>
            </a:extLst>
          </p:cNvPr>
          <p:cNvSpPr txBox="1"/>
          <p:nvPr/>
        </p:nvSpPr>
        <p:spPr>
          <a:xfrm>
            <a:off x="276520" y="1250577"/>
            <a:ext cx="44007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dirty="0"/>
              <a:t>Hodgkin</a:t>
            </a:r>
            <a:r>
              <a:rPr kumimoji="1" lang="en-US" altLang="ja-JP" sz="3200" b="1" dirty="0"/>
              <a:t>-Huxley</a:t>
            </a:r>
            <a:r>
              <a:rPr kumimoji="1" lang="ja-JP" altLang="en-US" sz="3200" b="1" dirty="0"/>
              <a:t>モデル</a:t>
            </a:r>
          </a:p>
        </p:txBody>
      </p:sp>
      <p:sp>
        <p:nvSpPr>
          <p:cNvPr id="100" name="楕円 99">
            <a:extLst>
              <a:ext uri="{FF2B5EF4-FFF2-40B4-BE49-F238E27FC236}">
                <a16:creationId xmlns:a16="http://schemas.microsoft.com/office/drawing/2014/main" id="{F8ACCF07-A284-EA5B-6CF9-E44AF7D1C8E0}"/>
              </a:ext>
            </a:extLst>
          </p:cNvPr>
          <p:cNvSpPr/>
          <p:nvPr/>
        </p:nvSpPr>
        <p:spPr>
          <a:xfrm>
            <a:off x="3984786" y="4770012"/>
            <a:ext cx="2188800" cy="12803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b="1" dirty="0"/>
              <a:t>進行中</a:t>
            </a:r>
          </a:p>
        </p:txBody>
      </p:sp>
      <p:sp>
        <p:nvSpPr>
          <p:cNvPr id="102" name="楕円 101">
            <a:extLst>
              <a:ext uri="{FF2B5EF4-FFF2-40B4-BE49-F238E27FC236}">
                <a16:creationId xmlns:a16="http://schemas.microsoft.com/office/drawing/2014/main" id="{D5309C0A-5558-56FC-F086-1F7C29DF7AB0}"/>
              </a:ext>
            </a:extLst>
          </p:cNvPr>
          <p:cNvSpPr/>
          <p:nvPr/>
        </p:nvSpPr>
        <p:spPr>
          <a:xfrm>
            <a:off x="9974076" y="4770012"/>
            <a:ext cx="2188800" cy="128037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調査中</a:t>
            </a:r>
            <a:endParaRPr kumimoji="1" lang="ja-JP" altLang="en-US" sz="3200" b="1" dirty="0">
              <a:solidFill>
                <a:schemeClr val="tx1"/>
              </a:solidFill>
            </a:endParaRPr>
          </a:p>
        </p:txBody>
      </p: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9CA20C82-0B42-5C5A-31A5-1D69A069A37C}"/>
              </a:ext>
            </a:extLst>
          </p:cNvPr>
          <p:cNvSpPr txBox="1"/>
          <p:nvPr/>
        </p:nvSpPr>
        <p:spPr>
          <a:xfrm>
            <a:off x="381000" y="2035033"/>
            <a:ext cx="501636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空間形状を考慮しない</a:t>
            </a:r>
            <a:endParaRPr kumimoji="1" lang="en-US" altLang="ja-JP" sz="2800" b="1" dirty="0"/>
          </a:p>
          <a:p>
            <a:r>
              <a:rPr lang="ja-JP" altLang="en-US" sz="2800" b="1" dirty="0"/>
              <a:t>コンパートメント：１個</a:t>
            </a:r>
            <a:endParaRPr lang="en-US" altLang="ja-JP" sz="2800" b="1" dirty="0"/>
          </a:p>
          <a:p>
            <a:endParaRPr kumimoji="1" lang="en-US" altLang="ja-JP" sz="2800" b="1" dirty="0"/>
          </a:p>
          <a:p>
            <a:r>
              <a:rPr lang="ja-JP" altLang="en-US" sz="2800" b="1" dirty="0"/>
              <a:t>状態変数：ゲート変数</a:t>
            </a:r>
            <a:endParaRPr lang="en-US" altLang="ja-JP" sz="2800" b="1" dirty="0"/>
          </a:p>
          <a:p>
            <a:r>
              <a:rPr lang="ja-JP" altLang="en-US" sz="2800" b="1" dirty="0"/>
              <a:t>　　　　　</a:t>
            </a:r>
            <a:r>
              <a:rPr kumimoji="1" lang="ja-JP" altLang="en-US" sz="2800" b="1" dirty="0"/>
              <a:t>その他変数</a:t>
            </a:r>
            <a:endParaRPr kumimoji="1" lang="en-US" altLang="ja-JP" sz="2800" b="1" dirty="0"/>
          </a:p>
          <a:p>
            <a:endParaRPr lang="en-US" altLang="ja-JP" sz="2800" b="1" dirty="0"/>
          </a:p>
          <a:p>
            <a:endParaRPr kumimoji="1" lang="ja-JP" altLang="en-US" sz="2800" b="1" dirty="0"/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AD07620A-2599-BC12-CC63-54BF6DF687FB}"/>
              </a:ext>
            </a:extLst>
          </p:cNvPr>
          <p:cNvSpPr txBox="1"/>
          <p:nvPr/>
        </p:nvSpPr>
        <p:spPr>
          <a:xfrm>
            <a:off x="6404322" y="2068504"/>
            <a:ext cx="501636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空間形状を考慮</a:t>
            </a:r>
            <a:endParaRPr kumimoji="1" lang="en-US" altLang="ja-JP" sz="2800" b="1" dirty="0"/>
          </a:p>
          <a:p>
            <a:r>
              <a:rPr lang="ja-JP" altLang="en-US" sz="2800" b="1" dirty="0"/>
              <a:t>コンパートメント：</a:t>
            </a:r>
            <a:r>
              <a:rPr lang="en-US" altLang="ja-JP" sz="2800" b="1" dirty="0"/>
              <a:t>10</a:t>
            </a:r>
            <a:r>
              <a:rPr lang="ja-JP" altLang="en-US" sz="2800" b="1" dirty="0"/>
              <a:t>～</a:t>
            </a:r>
            <a:r>
              <a:rPr lang="en-US" altLang="ja-JP" sz="2800" b="1" dirty="0"/>
              <a:t>20</a:t>
            </a:r>
            <a:r>
              <a:rPr lang="ja-JP" altLang="en-US" sz="2800" b="1" dirty="0"/>
              <a:t>個</a:t>
            </a:r>
            <a:endParaRPr lang="en-US" altLang="ja-JP" sz="2800" b="1" dirty="0"/>
          </a:p>
          <a:p>
            <a:endParaRPr kumimoji="1" lang="en-US" altLang="ja-JP" sz="2800" b="1" dirty="0"/>
          </a:p>
          <a:p>
            <a:r>
              <a:rPr lang="ja-JP" altLang="en-US" sz="2800" b="1" dirty="0"/>
              <a:t>状態変数：ゲート変数</a:t>
            </a:r>
            <a:endParaRPr lang="en-US" altLang="ja-JP" sz="2800" b="1" dirty="0"/>
          </a:p>
          <a:p>
            <a:r>
              <a:rPr lang="ja-JP" altLang="en-US" sz="2800" b="1" dirty="0"/>
              <a:t>　　　　　</a:t>
            </a:r>
            <a:r>
              <a:rPr kumimoji="1" lang="ja-JP" altLang="en-US" sz="2800" b="1" dirty="0"/>
              <a:t>その他変数</a:t>
            </a:r>
            <a:endParaRPr kumimoji="1" lang="en-US" altLang="ja-JP" sz="2800" b="1" dirty="0"/>
          </a:p>
          <a:p>
            <a:endParaRPr lang="en-US" altLang="ja-JP" sz="2800" b="1" dirty="0"/>
          </a:p>
          <a:p>
            <a:r>
              <a:rPr kumimoji="1" lang="ja-JP" altLang="en-US" sz="2800" b="1" dirty="0"/>
              <a:t>より再現度の高い</a:t>
            </a:r>
            <a:endParaRPr kumimoji="1" lang="en-US" altLang="ja-JP" sz="2800" b="1" dirty="0"/>
          </a:p>
          <a:p>
            <a:r>
              <a:rPr kumimoji="1" lang="ja-JP" altLang="en-US" sz="2800" b="1" dirty="0"/>
              <a:t>シミュレーション</a:t>
            </a:r>
            <a:endParaRPr kumimoji="1" lang="en-US" altLang="ja-JP" sz="2800" b="1" dirty="0"/>
          </a:p>
          <a:p>
            <a:endParaRPr lang="en-US" altLang="ja-JP" sz="2800" b="1" dirty="0"/>
          </a:p>
          <a:p>
            <a:endParaRPr kumimoji="1" lang="ja-JP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729717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0737B2-F508-9467-631A-304CAEFE2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Hodgkin-Huxley</a:t>
            </a:r>
            <a:r>
              <a:rPr kumimoji="1" lang="ja-JP" altLang="en-US" dirty="0"/>
              <a:t>モデル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1274552" cy="507492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61862"/>
            <a:ext cx="9170212" cy="710915"/>
          </a:xfrm>
          <a:prstGeom prst="rect">
            <a:avLst/>
          </a:prstGeom>
        </p:spPr>
      </p:pic>
      <p:pic>
        <p:nvPicPr>
          <p:cNvPr id="5" name="Picture 4" descr="hh3_d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22871"/>
            <a:ext cx="3057022" cy="509137"/>
          </a:xfrm>
          <a:prstGeom prst="rect">
            <a:avLst/>
          </a:prstGeom>
        </p:spPr>
      </p:pic>
      <p:pic>
        <p:nvPicPr>
          <p:cNvPr id="6" name="Picture 5" descr="hh3_d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122871"/>
            <a:ext cx="2765145" cy="509137"/>
          </a:xfrm>
          <a:prstGeom prst="rect">
            <a:avLst/>
          </a:prstGeom>
        </p:spPr>
      </p:pic>
      <p:pic>
        <p:nvPicPr>
          <p:cNvPr id="7" name="Picture 6" descr="hh3_d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2122871"/>
            <a:ext cx="2789285" cy="509137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777240" y="2926080"/>
            <a:ext cx="1065276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hh2_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116366"/>
            <a:ext cx="2196754" cy="625266"/>
          </a:xfrm>
          <a:prstGeom prst="rect">
            <a:avLst/>
          </a:prstGeom>
        </p:spPr>
      </p:pic>
      <p:pic>
        <p:nvPicPr>
          <p:cNvPr id="10" name="Picture 9" descr="hh2_b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3260201"/>
            <a:ext cx="1909084" cy="337596"/>
          </a:xfrm>
          <a:prstGeom prst="rect">
            <a:avLst/>
          </a:prstGeom>
        </p:spPr>
      </p:pic>
      <p:pic>
        <p:nvPicPr>
          <p:cNvPr id="11" name="Picture 10" descr="hh2_a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037441"/>
            <a:ext cx="2180112" cy="337596"/>
          </a:xfrm>
          <a:prstGeom prst="rect">
            <a:avLst/>
          </a:prstGeom>
        </p:spPr>
      </p:pic>
      <p:pic>
        <p:nvPicPr>
          <p:cNvPr id="12" name="Picture 11" descr="hh2_b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0" y="3899550"/>
            <a:ext cx="2127808" cy="613379"/>
          </a:xfrm>
          <a:prstGeom prst="rect">
            <a:avLst/>
          </a:prstGeom>
        </p:spPr>
      </p:pic>
      <p:pic>
        <p:nvPicPr>
          <p:cNvPr id="13" name="Picture 12" descr="hh2_a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4670846"/>
            <a:ext cx="2149205" cy="625266"/>
          </a:xfrm>
          <a:prstGeom prst="rect">
            <a:avLst/>
          </a:prstGeom>
        </p:spPr>
      </p:pic>
      <p:pic>
        <p:nvPicPr>
          <p:cNvPr id="14" name="Picture 13" descr="hh2_b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9360" y="4814681"/>
            <a:ext cx="2284719" cy="337596"/>
          </a:xfrm>
          <a:prstGeom prst="rect">
            <a:avLst/>
          </a:prstGeom>
        </p:spPr>
      </p:pic>
      <p:pic>
        <p:nvPicPr>
          <p:cNvPr id="15" name="Picture 14" descr="hh3_cons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240" y="5555894"/>
            <a:ext cx="6728155" cy="22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462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研究の進捗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17320"/>
            <a:ext cx="1874519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874519" cy="1371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A1A1A"/>
                </a:solidFill>
                <a:latin typeface="+mn-ea"/>
                <a:ea typeface="+mn-ea"/>
              </a:rPr>
              <a:t>HHモデル</a:t>
            </a:r>
          </a:p>
          <a:p>
            <a:pPr algn="ctr">
              <a:spcAft>
                <a:spcPts val="0"/>
              </a:spcAft>
            </a:pPr>
            <a:r>
              <a:rPr sz="1900" b="1">
                <a:solidFill>
                  <a:srgbClr val="1A1A1A"/>
                </a:solidFill>
                <a:latin typeface="+mn-ea"/>
                <a:ea typeface="+mn-ea"/>
              </a:rPr>
              <a:t>実装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97180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+mn-ea"/>
                <a:ea typeface="+mn-ea"/>
              </a:rPr>
              <a:t>完了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23160" y="1920240"/>
            <a:ext cx="274320" cy="36576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88920" y="1417320"/>
            <a:ext cx="1874519" cy="137160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2540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1417320"/>
            <a:ext cx="1874519" cy="1371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A1A1A"/>
                </a:solidFill>
                <a:latin typeface="+mn-ea"/>
                <a:ea typeface="+mn-ea"/>
              </a:rPr>
              <a:t>RNN</a:t>
            </a:r>
          </a:p>
          <a:p>
            <a:pPr algn="ctr">
              <a:spcAft>
                <a:spcPts val="0"/>
              </a:spcAft>
            </a:pPr>
            <a:r>
              <a:rPr sz="1900" b="1">
                <a:solidFill>
                  <a:srgbClr val="1A1A1A"/>
                </a:solidFill>
                <a:latin typeface="+mn-ea"/>
                <a:ea typeface="+mn-ea"/>
              </a:rPr>
              <a:t>自作実装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97180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+mn-ea"/>
                <a:ea typeface="+mn-ea"/>
              </a:rPr>
              <a:t>完了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54879" y="1920240"/>
            <a:ext cx="274320" cy="36576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20640" y="1417320"/>
            <a:ext cx="1874519" cy="137160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2540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0" y="1417320"/>
            <a:ext cx="1874519" cy="1371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A1A1A"/>
                </a:solidFill>
                <a:latin typeface="+mn-ea"/>
                <a:ea typeface="+mn-ea"/>
              </a:rPr>
              <a:t>HH × RNN</a:t>
            </a:r>
          </a:p>
          <a:p>
            <a:pPr algn="ctr">
              <a:spcAft>
                <a:spcPts val="0"/>
              </a:spcAft>
            </a:pPr>
            <a:r>
              <a:rPr sz="1900" b="1">
                <a:solidFill>
                  <a:srgbClr val="1A1A1A"/>
                </a:solidFill>
                <a:latin typeface="+mn-ea"/>
                <a:ea typeface="+mn-ea"/>
              </a:rPr>
              <a:t>学習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97180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+mn-ea"/>
                <a:ea typeface="+mn-ea"/>
              </a:rPr>
              <a:t>進行中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86599" y="1920240"/>
            <a:ext cx="274320" cy="36576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52359" y="1417320"/>
            <a:ext cx="1874519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52359" y="1417320"/>
            <a:ext cx="1874519" cy="1371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595959"/>
                </a:solidFill>
                <a:latin typeface="+mn-ea"/>
                <a:ea typeface="+mn-ea"/>
              </a:rPr>
              <a:t>Multi-Compartment</a:t>
            </a:r>
          </a:p>
          <a:p>
            <a:pPr algn="ctr">
              <a:spcAft>
                <a:spcPts val="0"/>
              </a:spcAft>
            </a:pPr>
            <a:r>
              <a:rPr sz="1700" b="1">
                <a:solidFill>
                  <a:srgbClr val="595959"/>
                </a:solidFill>
                <a:latin typeface="+mn-ea"/>
                <a:ea typeface="+mn-ea"/>
              </a:rPr>
              <a:t>実装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39" y="297180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600" b="1">
                <a:solidFill>
                  <a:srgbClr val="1A1A1A"/>
                </a:solidFill>
                <a:latin typeface="+mn-ea"/>
                <a:ea typeface="+mn-ea"/>
              </a:rPr>
              <a:t>論文調査中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418319" y="1920240"/>
            <a:ext cx="274320" cy="36576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784080" y="1417320"/>
            <a:ext cx="1874519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0" y="1417320"/>
            <a:ext cx="1874519" cy="1371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595959"/>
                </a:solidFill>
                <a:latin typeface="+mn-ea"/>
                <a:ea typeface="+mn-ea"/>
              </a:rPr>
              <a:t>MC × RNN</a:t>
            </a:r>
          </a:p>
          <a:p>
            <a:pPr algn="ctr">
              <a:spcAft>
                <a:spcPts val="0"/>
              </a:spcAft>
            </a:pPr>
            <a:r>
              <a:rPr sz="1900" b="1">
                <a:solidFill>
                  <a:srgbClr val="595959"/>
                </a:solidFill>
                <a:latin typeface="+mn-ea"/>
                <a:ea typeface="+mn-ea"/>
              </a:rPr>
              <a:t>学習・評価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59" y="297180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600" b="1">
                <a:solidFill>
                  <a:srgbClr val="1A1A1A"/>
                </a:solidFill>
                <a:latin typeface="+mn-ea"/>
                <a:ea typeface="+mn-ea"/>
              </a:rPr>
              <a:t>未着手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56082"/>
                </a:solidFill>
                <a:latin typeface="+mn-ea"/>
                <a:ea typeface="+mn-ea"/>
              </a:rPr>
              <a:t>今回の報告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507992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1A"/>
                </a:solidFill>
                <a:latin typeface="+mn-ea"/>
                <a:ea typeface="+mn-ea"/>
              </a:rPr>
              <a:t>ライブラリを使わず NumPy だけで RNN を実装し，勾配計算の正しさを検算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5074920"/>
            <a:ext cx="411480" cy="41148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056632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1A"/>
                </a:solidFill>
                <a:latin typeface="+mn-ea"/>
                <a:ea typeface="+mn-ea"/>
              </a:rPr>
              <a:t>sin 波の予測で教科書の実装（PyTorch / Keras）と同等の精度を確認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5623560"/>
            <a:ext cx="411480" cy="41148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605272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1A"/>
                </a:solidFill>
                <a:latin typeface="+mn-ea"/>
                <a:ea typeface="+mn-ea"/>
              </a:rPr>
              <a:t>HH モデルの教師データを生成し，HH × RNN の学習設計を決定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学習条件の検討（10 シード）</a:t>
            </a:r>
          </a:p>
        </p:txBody>
      </p:sp>
      <p:pic>
        <p:nvPicPr>
          <p:cNvPr id="3" name="Picture 2" descr="gen_mse_by_cond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6766560" cy="300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160520"/>
            <a:ext cx="6583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+mn-ea"/>
                <a:ea typeface="+mn-ea"/>
              </a:rPr>
              <a:t>初期化 / Adam の実装 / 停止条件 を変えて各 10 回学習し，生成誤差を比較（対数軸，横線は中央値）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051560"/>
            <a:ext cx="4389120" cy="118872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43800" y="1143000"/>
            <a:ext cx="40690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56082"/>
                </a:solidFill>
                <a:latin typeface="+mn-ea"/>
                <a:ea typeface="+mn-ea"/>
              </a:rPr>
              <a:t>入力重み W の初期値が主因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+mn-ea"/>
                <a:ea typeface="+mn-ea"/>
              </a:rPr>
              <a:t>標準偏差 1 → Xavier（約 0.2）で中央値が約 1/20 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2377439"/>
            <a:ext cx="4389120" cy="118872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43800" y="2468879"/>
            <a:ext cx="40690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56082"/>
                </a:solidFill>
                <a:latin typeface="+mn-ea"/>
                <a:ea typeface="+mn-ea"/>
              </a:rPr>
              <a:t>1 点先の誤差 ≠ 生成の良さ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+mn-ea"/>
                <a:ea typeface="+mn-ea"/>
              </a:rPr>
              <a:t>val_loss 最良の条件と gen_mse 最良の条件が一致しない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3703320"/>
            <a:ext cx="4389120" cy="118872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43800" y="3794759"/>
            <a:ext cx="40690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56082"/>
                </a:solidFill>
                <a:latin typeface="+mn-ea"/>
                <a:ea typeface="+mn-ea"/>
              </a:rPr>
              <a:t>EarlyStopping で稀に崩れる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+mn-ea"/>
                <a:ea typeface="+mn-ea"/>
              </a:rPr>
              <a:t>停止の基準（1 点先）と評価（逐次生成）がずれる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92840" cy="868680"/>
          </a:xfrm>
          <a:prstGeom prst="roundRect">
            <a:avLst>
              <a:gd name="adj" fmla="val 4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5120640"/>
            <a:ext cx="10881360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+mn-ea"/>
                <a:ea typeface="+mn-ea"/>
              </a:rPr>
              <a:t>HH の学習では Xavier 初期化 + Adam（AMSGrad）を採用し，評価は逐次生成で行う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HH モデルの教師データ</a:t>
            </a:r>
          </a:p>
        </p:txBody>
      </p:sp>
      <p:pic>
        <p:nvPicPr>
          <p:cNvPr id="3" name="Picture 2" descr="teacher_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7772400" cy="54406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321040" y="1005840"/>
            <a:ext cx="3429000" cy="502920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0" y="1143000"/>
            <a:ext cx="310896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56082"/>
                </a:solidFill>
                <a:latin typeface="+mn-ea"/>
                <a:ea typeface="+mn-ea"/>
              </a:rPr>
              <a:t>外部電流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+mn-ea"/>
                <a:ea typeface="+mn-ea"/>
              </a:rPr>
              <a:t>振幅をランダムに変えるパルス電流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+mn-ea"/>
                <a:ea typeface="+mn-ea"/>
              </a:rPr>
              <a:t>0〜20 μA/cm²，10 ms ごとに更新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156082"/>
                </a:solidFill>
                <a:latin typeface="+mn-ea"/>
                <a:ea typeface="+mn-ea"/>
              </a:rPr>
              <a:t>シミュレーション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+mn-ea"/>
                <a:ea typeface="+mn-ea"/>
              </a:rPr>
              <a:t>T = 900 ms，dt = 0.05 ms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+mn-ea"/>
                <a:ea typeface="+mn-ea"/>
              </a:rPr>
              <a:t>（18,000 ステップ）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156082"/>
                </a:solidFill>
                <a:latin typeface="+mn-ea"/>
                <a:ea typeface="+mn-ea"/>
              </a:rPr>
              <a:t>ねらい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+mn-ea"/>
                <a:ea typeface="+mn-ea"/>
              </a:rPr>
              <a:t>発火する・しない入力を両方含め，特定の入力に依存しない学習を目指す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+mn-ea"/>
                <a:ea typeface="+mn-ea"/>
              </a:rPr>
              <a:t>条件は先行研究［棟近 2025］に合わせた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HH × RNN の学習設計（実装中）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280160"/>
            <a:ext cx="237744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2000" b="1">
                <a:solidFill>
                  <a:srgbClr val="1A1A1A"/>
                </a:solidFill>
                <a:latin typeface="+mn-ea"/>
                <a:ea typeface="+mn-ea"/>
              </a:rPr>
              <a:t>外部電流</a:t>
            </a:r>
          </a:p>
          <a:p>
            <a:pPr algn="ctr"/>
            <a:r>
              <a:rPr sz="2000" b="1">
                <a:solidFill>
                  <a:srgbClr val="1A1A1A"/>
                </a:solidFill>
                <a:latin typeface="+mn-ea"/>
                <a:ea typeface="+mn-ea"/>
              </a:rPr>
              <a:t>I(t)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383280" y="1554480"/>
            <a:ext cx="731520" cy="365760"/>
          </a:xfrm>
          <a:prstGeom prst="rightArrow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97680" y="1143000"/>
            <a:ext cx="3291840" cy="1188720"/>
          </a:xfrm>
          <a:prstGeom prst="roundRect">
            <a:avLst>
              <a:gd name="adj" fmla="val 20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+mn-ea"/>
                <a:ea typeface="+mn-ea"/>
              </a:rPr>
              <a:t>RNN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+mn-ea"/>
                <a:ea typeface="+mn-ea"/>
              </a:rPr>
              <a:t>（隠れ層 50）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772400" y="1554480"/>
            <a:ext cx="731520" cy="365760"/>
          </a:xfrm>
          <a:prstGeom prst="rightArrow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0" y="1280160"/>
            <a:ext cx="274320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2000" b="1">
                <a:solidFill>
                  <a:srgbClr val="1A1A1A"/>
                </a:solidFill>
                <a:latin typeface="+mn-ea"/>
                <a:ea typeface="+mn-ea"/>
              </a:rPr>
              <a:t>膜電位</a:t>
            </a:r>
          </a:p>
          <a:p>
            <a:pPr algn="ctr"/>
            <a:r>
              <a:rPr sz="2000" b="1">
                <a:solidFill>
                  <a:srgbClr val="1A1A1A"/>
                </a:solidFill>
                <a:latin typeface="+mn-ea"/>
                <a:ea typeface="+mn-ea"/>
              </a:rPr>
              <a:t>V(t + dt)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595959"/>
                </a:solidFill>
                <a:latin typeface="+mn-ea"/>
                <a:ea typeface="+mn-ea"/>
              </a:rPr>
              <a:t>全時刻で 1 点ずつ対応させ，隠れ状態 h を途切れさせずに系列全体を学習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54680"/>
            <a:ext cx="3611880" cy="288036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3291840" cy="2697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56082"/>
                </a:solidFill>
                <a:latin typeface="+mn-ea"/>
                <a:ea typeface="+mn-ea"/>
              </a:rPr>
              <a:t>データ分割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+mn-ea"/>
                <a:ea typeface="+mn-ea"/>
              </a:rPr>
              <a:t>時間順に分割（60 / 20 / 20）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+mn-ea"/>
                <a:ea typeface="+mn-ea"/>
              </a:rPr>
              <a:t>訓練　 0–540 ms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+mn-ea"/>
                <a:ea typeface="+mn-ea"/>
              </a:rPr>
              <a:t>検証　 540–720 ms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+mn-ea"/>
                <a:ea typeface="+mn-ea"/>
              </a:rPr>
              <a:t>テスト 720–900 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3154680"/>
            <a:ext cx="3611880" cy="288036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53128" y="3291840"/>
            <a:ext cx="3291840" cy="2697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56082"/>
                </a:solidFill>
                <a:latin typeface="+mn-ea"/>
                <a:ea typeface="+mn-ea"/>
              </a:rPr>
              <a:t>前処理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+mn-ea"/>
                <a:ea typeface="+mn-ea"/>
              </a:rPr>
              <a:t>I と V をそれぞれ標準化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+mn-ea"/>
                <a:ea typeface="+mn-ea"/>
              </a:rPr>
              <a:t>平均・分散は訓練区間のみで計算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+mn-ea"/>
                <a:ea typeface="+mn-ea"/>
              </a:rPr>
              <a:t>テスト区間の情報は使わない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3154680"/>
            <a:ext cx="3611880" cy="288036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66175" y="3291840"/>
            <a:ext cx="3291840" cy="2697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56082"/>
                </a:solidFill>
                <a:latin typeface="+mn-ea"/>
                <a:ea typeface="+mn-ea"/>
              </a:rPr>
              <a:t>評価指標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+mn-ea"/>
                <a:ea typeface="+mn-ea"/>
              </a:rPr>
              <a:t>波形：RMSE / MAE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+mn-ea"/>
                <a:ea typeface="+mn-ea"/>
              </a:rPr>
              <a:t>スパイク数・スパイク形状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+mn-ea"/>
                <a:ea typeface="+mn-ea"/>
              </a:rPr>
              <a:t>計算時間・計算量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今後の予定と課題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5120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56082"/>
                </a:solidFill>
                <a:latin typeface="+mn-ea"/>
                <a:ea typeface="+mn-ea"/>
              </a:rPr>
              <a:t>スケジュール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ja-JP" altLang="en-US" sz="1500" b="1" dirty="0">
                <a:solidFill>
                  <a:srgbClr val="FFFFFF"/>
                </a:solidFill>
                <a:latin typeface="+mn-ea"/>
                <a:ea typeface="+mn-ea"/>
              </a:rPr>
              <a:t>～</a:t>
            </a:r>
            <a:r>
              <a:rPr sz="1500" b="1" dirty="0">
                <a:solidFill>
                  <a:srgbClr val="FFFFFF"/>
                </a:solidFill>
                <a:latin typeface="+mn-ea"/>
                <a:ea typeface="+mn-ea"/>
              </a:rPr>
              <a:t>10月</a:t>
            </a:r>
            <a:r>
              <a:rPr lang="ja-JP" altLang="en-US" sz="1500" b="1" dirty="0">
                <a:solidFill>
                  <a:srgbClr val="FFFFFF"/>
                </a:solidFill>
                <a:latin typeface="+mn-ea"/>
                <a:ea typeface="+mn-ea"/>
              </a:rPr>
              <a:t>下旬</a:t>
            </a:r>
            <a:endParaRPr sz="1500" b="1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4600" y="1651829"/>
            <a:ext cx="5361707" cy="107721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dirty="0">
                <a:solidFill>
                  <a:srgbClr val="1A1A1A"/>
                </a:solidFill>
                <a:latin typeface="+mn-ea"/>
                <a:ea typeface="+mn-ea"/>
              </a:rPr>
              <a:t>HH </a:t>
            </a:r>
            <a:r>
              <a:rPr lang="ja-JP" altLang="en-US" b="1" dirty="0">
                <a:solidFill>
                  <a:srgbClr val="1A1A1A"/>
                </a:solidFill>
                <a:latin typeface="+mn-ea"/>
              </a:rPr>
              <a:t>の教師データを生成</a:t>
            </a:r>
            <a:endParaRPr lang="en-US" altLang="ja-JP" b="1" dirty="0">
              <a:solidFill>
                <a:srgbClr val="1A1A1A"/>
              </a:solidFill>
              <a:latin typeface="+mn-ea"/>
            </a:endParaRPr>
          </a:p>
          <a:p>
            <a:pPr algn="l">
              <a:spcAft>
                <a:spcPts val="600"/>
              </a:spcAft>
            </a:pPr>
            <a:r>
              <a:rPr sz="1800" b="1" dirty="0">
                <a:solidFill>
                  <a:srgbClr val="1A1A1A"/>
                </a:solidFill>
                <a:latin typeface="+mn-ea"/>
                <a:ea typeface="+mn-ea"/>
              </a:rPr>
              <a:t>RNN</a:t>
            </a:r>
            <a:r>
              <a:rPr lang="ja-JP" altLang="en-US" sz="1800" b="1" dirty="0">
                <a:solidFill>
                  <a:srgbClr val="1A1A1A"/>
                </a:solidFill>
                <a:latin typeface="+mn-ea"/>
                <a:ea typeface="+mn-ea"/>
              </a:rPr>
              <a:t>を使って</a:t>
            </a:r>
            <a:r>
              <a:rPr sz="1800" b="1" dirty="0" err="1">
                <a:solidFill>
                  <a:srgbClr val="1A1A1A"/>
                </a:solidFill>
                <a:latin typeface="+mn-ea"/>
                <a:ea typeface="+mn-ea"/>
              </a:rPr>
              <a:t>学習・評価</a:t>
            </a:r>
            <a:endParaRPr lang="en-US" sz="1800" b="1" dirty="0">
              <a:solidFill>
                <a:srgbClr val="1A1A1A"/>
              </a:solidFill>
              <a:latin typeface="+mn-ea"/>
              <a:ea typeface="+mn-ea"/>
            </a:endParaRPr>
          </a:p>
          <a:p>
            <a:pPr algn="l">
              <a:spcAft>
                <a:spcPts val="600"/>
              </a:spcAft>
            </a:pPr>
            <a:r>
              <a:rPr lang="ja-JP" altLang="en-US" sz="1800" b="1" dirty="0">
                <a:solidFill>
                  <a:srgbClr val="1A1A1A"/>
                </a:solidFill>
                <a:latin typeface="+mn-ea"/>
                <a:ea typeface="+mn-ea"/>
              </a:rPr>
              <a:t>→各ゲート変数に対しても学習を行うことも視野に</a:t>
            </a:r>
            <a:endParaRPr sz="1800" b="1" dirty="0">
              <a:solidFill>
                <a:srgbClr val="1A1A1A"/>
              </a:solidFill>
              <a:latin typeface="+mn-ea"/>
              <a:ea typeface="+mn-ea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1531620" y="2377440"/>
            <a:ext cx="0" cy="457200"/>
          </a:xfrm>
          <a:prstGeom prst="line">
            <a:avLst/>
          </a:prstGeom>
          <a:ln w="1905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" y="283464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500" b="1" dirty="0">
                <a:solidFill>
                  <a:srgbClr val="156082"/>
                </a:solidFill>
                <a:latin typeface="+mn-ea"/>
                <a:ea typeface="+mn-ea"/>
              </a:rPr>
              <a:t>〜1</a:t>
            </a:r>
            <a:r>
              <a:rPr lang="en-US" sz="1500" b="1" dirty="0">
                <a:solidFill>
                  <a:srgbClr val="156082"/>
                </a:solidFill>
                <a:latin typeface="+mn-ea"/>
                <a:ea typeface="+mn-ea"/>
              </a:rPr>
              <a:t>1</a:t>
            </a:r>
            <a:r>
              <a:rPr lang="ja-JP" altLang="en-US" sz="1500" b="1" dirty="0">
                <a:solidFill>
                  <a:srgbClr val="156082"/>
                </a:solidFill>
                <a:latin typeface="+mn-ea"/>
                <a:ea typeface="+mn-ea"/>
              </a:rPr>
              <a:t>月</a:t>
            </a:r>
            <a:r>
              <a:rPr lang="en-US" altLang="ja-JP" sz="1500" b="1" dirty="0">
                <a:solidFill>
                  <a:srgbClr val="156082"/>
                </a:solidFill>
                <a:latin typeface="+mn-ea"/>
                <a:ea typeface="+mn-ea"/>
              </a:rPr>
              <a:t>15</a:t>
            </a:r>
            <a:r>
              <a:rPr lang="ja-JP" altLang="en-US" sz="1500" b="1" dirty="0">
                <a:solidFill>
                  <a:srgbClr val="156082"/>
                </a:solidFill>
                <a:latin typeface="+mn-ea"/>
                <a:ea typeface="+mn-ea"/>
              </a:rPr>
              <a:t>日</a:t>
            </a:r>
            <a:endParaRPr sz="1500" b="1" dirty="0">
              <a:solidFill>
                <a:srgbClr val="156082"/>
              </a:solidFill>
              <a:latin typeface="+mn-ea"/>
              <a:ea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14600" y="2924294"/>
            <a:ext cx="329184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1" dirty="0">
                <a:solidFill>
                  <a:srgbClr val="1A1A1A"/>
                </a:solidFill>
                <a:latin typeface="+mn-ea"/>
                <a:ea typeface="+mn-ea"/>
              </a:rPr>
              <a:t>MC </a:t>
            </a:r>
            <a:r>
              <a:rPr sz="1800" b="1" dirty="0" err="1">
                <a:solidFill>
                  <a:srgbClr val="1A1A1A"/>
                </a:solidFill>
                <a:latin typeface="+mn-ea"/>
                <a:ea typeface="+mn-ea"/>
              </a:rPr>
              <a:t>モデル</a:t>
            </a:r>
            <a:r>
              <a:rPr lang="ja-JP" altLang="en-US" sz="1800" b="1" dirty="0">
                <a:solidFill>
                  <a:srgbClr val="1A1A1A"/>
                </a:solidFill>
                <a:latin typeface="+mn-ea"/>
                <a:ea typeface="+mn-ea"/>
              </a:rPr>
              <a:t>（</a:t>
            </a:r>
            <a:r>
              <a:rPr lang="ja-JP" altLang="ja-JP" b="1" dirty="0"/>
              <a:t>Traub</a:t>
            </a:r>
            <a:r>
              <a:rPr lang="ja-JP" altLang="en-US" sz="1800" b="1" dirty="0">
                <a:solidFill>
                  <a:srgbClr val="1A1A1A"/>
                </a:solidFill>
                <a:latin typeface="+mn-ea"/>
                <a:ea typeface="+mn-ea"/>
              </a:rPr>
              <a:t>）</a:t>
            </a:r>
            <a:r>
              <a:rPr sz="1800" b="1" dirty="0" err="1">
                <a:solidFill>
                  <a:srgbClr val="1A1A1A"/>
                </a:solidFill>
                <a:latin typeface="+mn-ea"/>
                <a:ea typeface="+mn-ea"/>
              </a:rPr>
              <a:t>実装</a:t>
            </a:r>
            <a:endParaRPr sz="1800" b="1" dirty="0">
              <a:solidFill>
                <a:srgbClr val="1A1A1A"/>
              </a:solidFill>
              <a:latin typeface="+mn-ea"/>
              <a:ea typeface="+mn-ea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531620" y="3383280"/>
            <a:ext cx="0" cy="457200"/>
          </a:xfrm>
          <a:prstGeom prst="line">
            <a:avLst/>
          </a:prstGeom>
          <a:ln w="1905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" y="384048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500" b="1">
                <a:solidFill>
                  <a:srgbClr val="156082"/>
                </a:solidFill>
                <a:latin typeface="+mn-ea"/>
                <a:ea typeface="+mn-ea"/>
              </a:rPr>
              <a:t>〜年末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599" y="3791635"/>
            <a:ext cx="4384964" cy="64633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dirty="0">
                <a:solidFill>
                  <a:srgbClr val="1A1A1A"/>
                </a:solidFill>
                <a:latin typeface="+mn-ea"/>
                <a:ea typeface="+mn-ea"/>
              </a:rPr>
              <a:t>MC</a:t>
            </a:r>
            <a:r>
              <a:rPr lang="ja-JP" altLang="en-US" sz="1800" b="1" dirty="0">
                <a:solidFill>
                  <a:srgbClr val="1A1A1A"/>
                </a:solidFill>
                <a:latin typeface="+mn-ea"/>
                <a:ea typeface="+mn-ea"/>
              </a:rPr>
              <a:t>モデル（</a:t>
            </a:r>
            <a:r>
              <a:rPr lang="en-US" altLang="ja-JP" sz="1800" b="1" dirty="0">
                <a:solidFill>
                  <a:srgbClr val="1A1A1A"/>
                </a:solidFill>
                <a:latin typeface="+mn-ea"/>
                <a:ea typeface="+mn-ea"/>
              </a:rPr>
              <a:t>Traub</a:t>
            </a:r>
            <a:r>
              <a:rPr lang="ja-JP" altLang="en-US" sz="1800" b="1" dirty="0">
                <a:solidFill>
                  <a:srgbClr val="1A1A1A"/>
                </a:solidFill>
                <a:latin typeface="+mn-ea"/>
                <a:ea typeface="+mn-ea"/>
              </a:rPr>
              <a:t>）</a:t>
            </a:r>
            <a:r>
              <a:rPr sz="1800" b="1" dirty="0">
                <a:solidFill>
                  <a:srgbClr val="1A1A1A"/>
                </a:solidFill>
                <a:latin typeface="+mn-ea"/>
                <a:ea typeface="+mn-ea"/>
              </a:rPr>
              <a:t> </a:t>
            </a:r>
            <a:r>
              <a:rPr lang="ja-JP" altLang="en-US" sz="1800" b="1" dirty="0">
                <a:solidFill>
                  <a:srgbClr val="1A1A1A"/>
                </a:solidFill>
                <a:latin typeface="+mn-ea"/>
                <a:ea typeface="+mn-ea"/>
              </a:rPr>
              <a:t>の教師データを生成</a:t>
            </a:r>
            <a:r>
              <a:rPr sz="1800" b="1" dirty="0">
                <a:solidFill>
                  <a:srgbClr val="1A1A1A"/>
                </a:solidFill>
                <a:latin typeface="+mn-ea"/>
                <a:ea typeface="+mn-ea"/>
              </a:rPr>
              <a:t>RNN</a:t>
            </a:r>
            <a:r>
              <a:rPr lang="ja-JP" altLang="en-US" sz="1800" b="1" dirty="0">
                <a:solidFill>
                  <a:srgbClr val="1A1A1A"/>
                </a:solidFill>
                <a:latin typeface="+mn-ea"/>
                <a:ea typeface="+mn-ea"/>
              </a:rPr>
              <a:t>を使って</a:t>
            </a:r>
            <a:r>
              <a:rPr sz="1800" b="1" dirty="0" err="1">
                <a:solidFill>
                  <a:srgbClr val="1A1A1A"/>
                </a:solidFill>
                <a:latin typeface="+mn-ea"/>
                <a:ea typeface="+mn-ea"/>
              </a:rPr>
              <a:t>学習・評価</a:t>
            </a:r>
            <a:endParaRPr sz="1800" b="1" dirty="0">
              <a:solidFill>
                <a:srgbClr val="1A1A1A"/>
              </a:solidFill>
              <a:latin typeface="+mn-ea"/>
              <a:ea typeface="+mn-ea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1531620" y="4389120"/>
            <a:ext cx="0" cy="457200"/>
          </a:xfrm>
          <a:prstGeom prst="line">
            <a:avLst/>
          </a:prstGeom>
          <a:ln w="1905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" y="484632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500" b="1" dirty="0">
                <a:solidFill>
                  <a:srgbClr val="156082"/>
                </a:solidFill>
                <a:latin typeface="+mn-ea"/>
                <a:ea typeface="+mn-ea"/>
              </a:rPr>
              <a:t>〜2027年</a:t>
            </a:r>
            <a:r>
              <a:rPr lang="en-US" sz="1500" b="1" dirty="0">
                <a:solidFill>
                  <a:srgbClr val="156082"/>
                </a:solidFill>
                <a:latin typeface="+mn-ea"/>
              </a:rPr>
              <a:t>2</a:t>
            </a:r>
            <a:r>
              <a:rPr sz="1500" b="1" dirty="0">
                <a:solidFill>
                  <a:srgbClr val="156082"/>
                </a:solidFill>
                <a:latin typeface="+mn-ea"/>
                <a:ea typeface="+mn-ea"/>
              </a:rPr>
              <a:t>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4935974"/>
            <a:ext cx="329184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dirty="0" err="1">
                <a:solidFill>
                  <a:srgbClr val="1A1A1A"/>
                </a:solidFill>
                <a:latin typeface="+mn-ea"/>
                <a:ea typeface="+mn-ea"/>
              </a:rPr>
              <a:t>卒論執筆</a:t>
            </a:r>
            <a:endParaRPr sz="1800" b="1" dirty="0">
              <a:solidFill>
                <a:srgbClr val="1A1A1A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淡い単色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3898</TotalTime>
  <Words>643</Words>
  <Application>Microsoft Office PowerPoint</Application>
  <PresentationFormat>ワイド画面</PresentationFormat>
  <Paragraphs>169</Paragraphs>
  <Slides>14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0" baseType="lpstr">
      <vt:lpstr>BIZ UDPゴシック</vt:lpstr>
      <vt:lpstr>游ゴシック</vt:lpstr>
      <vt:lpstr>Arial</vt:lpstr>
      <vt:lpstr>Cambria Math</vt:lpstr>
      <vt:lpstr>Times New Roman</vt:lpstr>
      <vt:lpstr>Office テーマ</vt:lpstr>
      <vt:lpstr>神経細胞シミュレーションの 計算コスト削減を目的とした RNN代理モデルの構築</vt:lpstr>
      <vt:lpstr>作成したRNN – sinカーブの学習</vt:lpstr>
      <vt:lpstr>神経細胞と脳機能</vt:lpstr>
      <vt:lpstr>神経細胞の数理モデル</vt:lpstr>
      <vt:lpstr>大規模シミュレーション</vt:lpstr>
      <vt:lpstr>RNN代理モデル</vt:lpstr>
      <vt:lpstr>なぜRNN？</vt:lpstr>
      <vt:lpstr>基になる数理モデル</vt:lpstr>
      <vt:lpstr>Hodgkin-Huxleyモデル</vt:lpstr>
      <vt:lpstr>研究の進捗</vt:lpstr>
      <vt:lpstr>学習条件の検討（10 シード）</vt:lpstr>
      <vt:lpstr>HH モデルの教師データ</vt:lpstr>
      <vt:lpstr>HH × RNN の学習設計（実装中）</vt:lpstr>
      <vt:lpstr>今後の予定と課題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山下　陽平</dc:creator>
  <cp:lastModifiedBy>山下　陽平</cp:lastModifiedBy>
  <cp:revision>6</cp:revision>
  <dcterms:created xsi:type="dcterms:W3CDTF">2026-09-22T09:52:35Z</dcterms:created>
  <dcterms:modified xsi:type="dcterms:W3CDTF">2026-10-02T06:05:20Z</dcterms:modified>
</cp:coreProperties>
</file>