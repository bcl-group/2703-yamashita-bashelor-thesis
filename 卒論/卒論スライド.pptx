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4" autoAdjust="0"/>
    <p:restoredTop sz="94660"/>
  </p:normalViewPr>
  <p:slideViewPr>
    <p:cSldViewPr snapToGrid="0">
      <p:cViewPr>
        <p:scale>
          <a:sx n="84" d="100"/>
          <a:sy n="84" d="100"/>
        </p:scale>
        <p:origin x="37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5E84E-6304-4E6B-B916-631837B59305}" type="datetimeFigureOut">
              <a:rPr kumimoji="1" lang="ja-JP" altLang="en-US" smtClean="0"/>
              <a:t>2026/9/25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8CAAE3-EE05-4E90-A13E-E947621726B8}" type="slidenum">
              <a:rPr kumimoji="1" lang="ja-JP" altLang="en-US" smtClean="0"/>
              <a:t>‹#›</a:t>
            </a:fld>
            <a:endParaRPr kumimoji="1" lang="ja-JP" altLang="en-US"/>
          </a:p>
        </p:txBody>
      </p:sp>
    </p:spTree>
    <p:extLst>
      <p:ext uri="{BB962C8B-B14F-4D97-AF65-F5344CB8AC3E}">
        <p14:creationId xmlns:p14="http://schemas.microsoft.com/office/powerpoint/2010/main" val="23919815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88CAAE3-EE05-4E90-A13E-E947621726B8}" type="slidenum">
              <a:rPr kumimoji="1" lang="ja-JP" altLang="en-US" smtClean="0"/>
              <a:t>2</a:t>
            </a:fld>
            <a:endParaRPr kumimoji="1" lang="ja-JP" altLang="en-US"/>
          </a:p>
        </p:txBody>
      </p:sp>
    </p:spTree>
    <p:extLst>
      <p:ext uri="{BB962C8B-B14F-4D97-AF65-F5344CB8AC3E}">
        <p14:creationId xmlns:p14="http://schemas.microsoft.com/office/powerpoint/2010/main" val="1882148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88CAAE3-EE05-4E90-A13E-E947621726B8}" type="slidenum">
              <a:rPr kumimoji="1" lang="ja-JP" altLang="en-US" smtClean="0"/>
              <a:t>3</a:t>
            </a:fld>
            <a:endParaRPr kumimoji="1" lang="ja-JP" altLang="en-US"/>
          </a:p>
        </p:txBody>
      </p:sp>
    </p:spTree>
    <p:extLst>
      <p:ext uri="{BB962C8B-B14F-4D97-AF65-F5344CB8AC3E}">
        <p14:creationId xmlns:p14="http://schemas.microsoft.com/office/powerpoint/2010/main" val="880920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88CAAE3-EE05-4E90-A13E-E947621726B8}" type="slidenum">
              <a:rPr kumimoji="1" lang="ja-JP" altLang="en-US" smtClean="0"/>
              <a:t>7</a:t>
            </a:fld>
            <a:endParaRPr kumimoji="1" lang="ja-JP" altLang="en-US"/>
          </a:p>
        </p:txBody>
      </p:sp>
    </p:spTree>
    <p:extLst>
      <p:ext uri="{BB962C8B-B14F-4D97-AF65-F5344CB8AC3E}">
        <p14:creationId xmlns:p14="http://schemas.microsoft.com/office/powerpoint/2010/main" val="3209424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A32DCC33-87F2-7BB8-4D73-8FB7CAC9FC62}"/>
              </a:ext>
            </a:extLst>
          </p:cNvPr>
          <p:cNvSpPr>
            <a:spLocks noGrp="1"/>
          </p:cNvSpPr>
          <p:nvPr>
            <p:ph type="title" hasCustomPrompt="1"/>
          </p:nvPr>
        </p:nvSpPr>
        <p:spPr>
          <a:xfrm>
            <a:off x="838200" y="1936347"/>
            <a:ext cx="10515600" cy="1325563"/>
          </a:xfrm>
          <a:prstGeom prst="rect">
            <a:avLst/>
          </a:prstGeom>
        </p:spPr>
        <p:txBody>
          <a:bodyPr/>
          <a:lstStyle>
            <a:lvl1pPr algn="ctr">
              <a:defRPr sz="5400" b="1">
                <a:latin typeface="+mn-ea"/>
                <a:ea typeface="+mn-ea"/>
              </a:defRPr>
            </a:lvl1pPr>
          </a:lstStyle>
          <a:p>
            <a:r>
              <a:rPr kumimoji="1" lang="ja-JP" altLang="en-US" dirty="0"/>
              <a:t>タイトルをここに入れてください</a:t>
            </a:r>
          </a:p>
        </p:txBody>
      </p:sp>
      <p:sp>
        <p:nvSpPr>
          <p:cNvPr id="8" name="テキスト ボックス 7">
            <a:extLst>
              <a:ext uri="{FF2B5EF4-FFF2-40B4-BE49-F238E27FC236}">
                <a16:creationId xmlns:a16="http://schemas.microsoft.com/office/drawing/2014/main" id="{6CFC683A-AF3D-2ACE-5793-E902F764A043}"/>
              </a:ext>
            </a:extLst>
          </p:cNvPr>
          <p:cNvSpPr txBox="1"/>
          <p:nvPr userDrawn="1"/>
        </p:nvSpPr>
        <p:spPr>
          <a:xfrm>
            <a:off x="1897487" y="3876541"/>
            <a:ext cx="8397025" cy="1938992"/>
          </a:xfrm>
          <a:prstGeom prst="rect">
            <a:avLst/>
          </a:prstGeom>
          <a:noFill/>
        </p:spPr>
        <p:txBody>
          <a:bodyPr wrap="square" rtlCol="0">
            <a:spAutoFit/>
          </a:bodyPr>
          <a:lstStyle/>
          <a:p>
            <a:pPr algn="ctr"/>
            <a:r>
              <a:rPr kumimoji="1" lang="ja-JP" altLang="en-US" sz="4000" b="1" dirty="0">
                <a:latin typeface="+mn-ea"/>
                <a:ea typeface="+mn-ea"/>
                <a:cs typeface="Kigelia Light" panose="020B0502040204020203" pitchFamily="34" charset="0"/>
              </a:rPr>
              <a:t>山口大学 理学部 物理・情報科学科</a:t>
            </a:r>
            <a:endParaRPr kumimoji="1" lang="en-US" altLang="ja-JP" sz="4000" b="1" dirty="0">
              <a:latin typeface="+mn-ea"/>
              <a:ea typeface="+mn-ea"/>
              <a:cs typeface="Kigelia Light" panose="020B0502040204020203" pitchFamily="34" charset="0"/>
            </a:endParaRPr>
          </a:p>
          <a:p>
            <a:pPr algn="ctr"/>
            <a:r>
              <a:rPr kumimoji="1" lang="ja-JP" altLang="en-US" sz="4000" b="1" dirty="0">
                <a:latin typeface="+mn-ea"/>
                <a:ea typeface="+mn-ea"/>
                <a:cs typeface="Kigelia Light" panose="020B0502040204020203" pitchFamily="34" charset="0"/>
              </a:rPr>
              <a:t>生体情報システム研究室</a:t>
            </a:r>
            <a:endParaRPr kumimoji="1" lang="en-US" altLang="ja-JP" sz="4000" b="1" dirty="0">
              <a:latin typeface="+mn-ea"/>
              <a:ea typeface="+mn-ea"/>
              <a:cs typeface="Kigelia Light" panose="020B0502040204020203" pitchFamily="34" charset="0"/>
            </a:endParaRPr>
          </a:p>
          <a:p>
            <a:pPr algn="ctr"/>
            <a:r>
              <a:rPr kumimoji="1" lang="ja-JP" altLang="en-US" sz="4000" b="1" dirty="0">
                <a:latin typeface="+mn-ea"/>
                <a:ea typeface="+mn-ea"/>
                <a:cs typeface="Kigelia Light" panose="020B0502040204020203" pitchFamily="34" charset="0"/>
              </a:rPr>
              <a:t>山下 陽平</a:t>
            </a:r>
          </a:p>
        </p:txBody>
      </p:sp>
    </p:spTree>
    <p:extLst>
      <p:ext uri="{BB962C8B-B14F-4D97-AF65-F5344CB8AC3E}">
        <p14:creationId xmlns:p14="http://schemas.microsoft.com/office/powerpoint/2010/main" val="13767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E0CB0ED-0E07-3D8A-EEF5-84B44B058AD2}"/>
              </a:ext>
            </a:extLst>
          </p:cNvPr>
          <p:cNvSpPr/>
          <p:nvPr userDrawn="1"/>
        </p:nvSpPr>
        <p:spPr>
          <a:xfrm>
            <a:off x="0" y="0"/>
            <a:ext cx="12191999" cy="7662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0711955-6FE2-F599-5427-CB4715181CFC}"/>
              </a:ext>
            </a:extLst>
          </p:cNvPr>
          <p:cNvSpPr>
            <a:spLocks noGrp="1"/>
          </p:cNvSpPr>
          <p:nvPr>
            <p:ph type="title" hasCustomPrompt="1"/>
          </p:nvPr>
        </p:nvSpPr>
        <p:spPr>
          <a:xfrm>
            <a:off x="218806" y="167425"/>
            <a:ext cx="10972934" cy="598868"/>
          </a:xfrm>
          <a:prstGeom prst="rect">
            <a:avLst/>
          </a:prstGeom>
        </p:spPr>
        <p:txBody>
          <a:bodyPr anchor="ctr"/>
          <a:lstStyle>
            <a:lvl1pPr>
              <a:defRPr b="1">
                <a:solidFill>
                  <a:schemeClr val="bg1"/>
                </a:solidFill>
                <a:latin typeface="+mn-ea"/>
                <a:ea typeface="+mn-ea"/>
              </a:defRPr>
            </a:lvl1pPr>
          </a:lstStyle>
          <a:p>
            <a:r>
              <a:rPr kumimoji="1" lang="ja-JP" altLang="en-US" dirty="0"/>
              <a:t>タイトルを入力</a:t>
            </a:r>
          </a:p>
        </p:txBody>
      </p:sp>
      <p:sp>
        <p:nvSpPr>
          <p:cNvPr id="6" name="コンテンツ プレースホルダー 5">
            <a:extLst>
              <a:ext uri="{FF2B5EF4-FFF2-40B4-BE49-F238E27FC236}">
                <a16:creationId xmlns:a16="http://schemas.microsoft.com/office/drawing/2014/main" id="{2B8BD8B8-E00D-A834-F4C4-EEB0311B720D}"/>
              </a:ext>
            </a:extLst>
          </p:cNvPr>
          <p:cNvSpPr>
            <a:spLocks noGrp="1"/>
          </p:cNvSpPr>
          <p:nvPr>
            <p:ph sz="quarter" idx="10" hasCustomPrompt="1"/>
          </p:nvPr>
        </p:nvSpPr>
        <p:spPr>
          <a:xfrm>
            <a:off x="218941" y="1094704"/>
            <a:ext cx="10972934" cy="5293397"/>
          </a:xfrm>
          <a:prstGeom prst="rect">
            <a:avLst/>
          </a:prstGeom>
        </p:spPr>
        <p:txBody>
          <a:bodyPr/>
          <a:lstStyle>
            <a:lvl1pPr>
              <a:lnSpc>
                <a:spcPct val="120000"/>
              </a:lnSpc>
              <a:buNone/>
              <a:defRPr b="1"/>
            </a:lvl1pPr>
          </a:lstStyle>
          <a:p>
            <a:pPr lvl="0"/>
            <a:r>
              <a:rPr kumimoji="1" lang="ja-JP" altLang="en-US" dirty="0"/>
              <a:t>ここに説明文を入れます</a:t>
            </a:r>
            <a:endParaRPr kumimoji="1" lang="en-US" altLang="ja-JP" dirty="0"/>
          </a:p>
        </p:txBody>
      </p:sp>
    </p:spTree>
    <p:extLst>
      <p:ext uri="{BB962C8B-B14F-4D97-AF65-F5344CB8AC3E}">
        <p14:creationId xmlns:p14="http://schemas.microsoft.com/office/powerpoint/2010/main" val="8165877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テキスト プレースホルダー 9">
            <a:extLst>
              <a:ext uri="{FF2B5EF4-FFF2-40B4-BE49-F238E27FC236}">
                <a16:creationId xmlns:a16="http://schemas.microsoft.com/office/drawing/2014/main" id="{78A3354F-F2C8-0F21-8C99-02CA12D581EB}"/>
              </a:ext>
            </a:extLst>
          </p:cNvPr>
          <p:cNvSpPr txBox="1">
            <a:spLocks/>
          </p:cNvSpPr>
          <p:nvPr userDrawn="1"/>
        </p:nvSpPr>
        <p:spPr>
          <a:xfrm>
            <a:off x="10401680" y="6256091"/>
            <a:ext cx="1790319" cy="5988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kumimoji="1" sz="2800" b="1" kern="1200">
                <a:solidFill>
                  <a:schemeClr val="tx1"/>
                </a:solidFill>
                <a:latin typeface="+mn-ea"/>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fld id="{763D935A-AFFD-4C3D-878E-ADA8648EB677}" type="slidenum">
              <a:rPr lang="en-US" altLang="ja-JP" smtClean="0"/>
              <a:pPr/>
              <a:t>‹#›</a:t>
            </a:fld>
            <a:r>
              <a:rPr lang="en-US" altLang="ja-JP"/>
              <a:t> / 99</a:t>
            </a:r>
            <a:endParaRPr lang="ja-JP" altLang="en-US" dirty="0"/>
          </a:p>
        </p:txBody>
      </p:sp>
    </p:spTree>
    <p:extLst>
      <p:ext uri="{BB962C8B-B14F-4D97-AF65-F5344CB8AC3E}">
        <p14:creationId xmlns:p14="http://schemas.microsoft.com/office/powerpoint/2010/main" val="131496725"/>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352B76-6818-E4EA-DCF6-D6DFC96E769F}"/>
              </a:ext>
            </a:extLst>
          </p:cNvPr>
          <p:cNvSpPr>
            <a:spLocks noGrp="1"/>
          </p:cNvSpPr>
          <p:nvPr>
            <p:ph type="ctrTitle"/>
          </p:nvPr>
        </p:nvSpPr>
        <p:spPr>
          <a:xfrm>
            <a:off x="493691" y="1120104"/>
            <a:ext cx="11204618" cy="2387600"/>
          </a:xfrm>
          <a:prstGeom prst="rect">
            <a:avLst/>
          </a:prstGeom>
        </p:spPr>
        <p:txBody>
          <a:bodyPr/>
          <a:lstStyle/>
          <a:p>
            <a:r>
              <a:rPr lang="ja-JP" altLang="en-US" dirty="0"/>
              <a:t>神経細胞シミュレーションの</a:t>
            </a:r>
            <a:br>
              <a:rPr lang="en-US" altLang="ja-JP" dirty="0"/>
            </a:br>
            <a:r>
              <a:rPr lang="ja-JP" altLang="en-US" dirty="0"/>
              <a:t>計算コスト削減を目的とした</a:t>
            </a:r>
            <a:br>
              <a:rPr lang="en-US" altLang="ja-JP" dirty="0"/>
            </a:br>
            <a:r>
              <a:rPr lang="en-US" altLang="ja-JP" dirty="0"/>
              <a:t>RNN</a:t>
            </a:r>
            <a:r>
              <a:rPr lang="ja-JP" altLang="en-US" dirty="0"/>
              <a:t>代理</a:t>
            </a:r>
            <a:r>
              <a:rPr lang="ja-JP" altLang="ja-JP" dirty="0"/>
              <a:t>モデルの構築</a:t>
            </a:r>
            <a:endParaRPr kumimoji="1" lang="ja-JP" altLang="en-US" dirty="0"/>
          </a:p>
        </p:txBody>
      </p:sp>
      <p:pic>
        <p:nvPicPr>
          <p:cNvPr id="5" name="図 4">
            <a:extLst>
              <a:ext uri="{FF2B5EF4-FFF2-40B4-BE49-F238E27FC236}">
                <a16:creationId xmlns:a16="http://schemas.microsoft.com/office/drawing/2014/main" id="{0272F10A-C7FC-10E0-0C2A-DAC0FE700451}"/>
              </a:ext>
            </a:extLst>
          </p:cNvPr>
          <p:cNvPicPr>
            <a:picLocks noChangeAspect="1"/>
          </p:cNvPicPr>
          <p:nvPr/>
        </p:nvPicPr>
        <p:blipFill>
          <a:blip r:embed="rId2"/>
          <a:stretch>
            <a:fillRect/>
          </a:stretch>
        </p:blipFill>
        <p:spPr>
          <a:xfrm>
            <a:off x="7803632" y="2313904"/>
            <a:ext cx="6084335" cy="6090432"/>
          </a:xfrm>
          <a:prstGeom prst="rect">
            <a:avLst/>
          </a:prstGeom>
        </p:spPr>
      </p:pic>
      <p:pic>
        <p:nvPicPr>
          <p:cNvPr id="7" name="グラフィックス 6" descr="神経 枠線">
            <a:extLst>
              <a:ext uri="{FF2B5EF4-FFF2-40B4-BE49-F238E27FC236}">
                <a16:creationId xmlns:a16="http://schemas.microsoft.com/office/drawing/2014/main" id="{3650482E-7EF2-D168-9E92-256B7A0FA4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999" y="-988097"/>
            <a:ext cx="3403600" cy="3403600"/>
          </a:xfrm>
          <a:prstGeom prst="rect">
            <a:avLst/>
          </a:prstGeom>
          <a:effectLst>
            <a:glow rad="127000">
              <a:schemeClr val="bg1">
                <a:alpha val="20000"/>
              </a:schemeClr>
            </a:glow>
            <a:outerShdw blurRad="50800" dist="38100" dir="2700000" algn="tl" rotWithShape="0">
              <a:schemeClr val="accent1">
                <a:alpha val="40000"/>
              </a:schemeClr>
            </a:outerShdw>
          </a:effectLst>
        </p:spPr>
      </p:pic>
    </p:spTree>
    <p:extLst>
      <p:ext uri="{BB962C8B-B14F-4D97-AF65-F5344CB8AC3E}">
        <p14:creationId xmlns:p14="http://schemas.microsoft.com/office/powerpoint/2010/main" val="1238017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6A02A-DAE3-3804-1CD3-99486228DDEE}"/>
              </a:ext>
            </a:extLst>
          </p:cNvPr>
          <p:cNvSpPr>
            <a:spLocks noGrp="1"/>
          </p:cNvSpPr>
          <p:nvPr>
            <p:ph type="title"/>
          </p:nvPr>
        </p:nvSpPr>
        <p:spPr/>
        <p:txBody>
          <a:bodyPr/>
          <a:lstStyle/>
          <a:p>
            <a:r>
              <a:rPr kumimoji="1" lang="ja-JP" altLang="en-US" dirty="0"/>
              <a:t>神経細胞と脳機能</a:t>
            </a:r>
          </a:p>
        </p:txBody>
      </p:sp>
      <p:pic>
        <p:nvPicPr>
          <p:cNvPr id="5" name="コンテンツ プレースホルダー 4" descr="脳 枠線">
            <a:extLst>
              <a:ext uri="{FF2B5EF4-FFF2-40B4-BE49-F238E27FC236}">
                <a16:creationId xmlns:a16="http://schemas.microsoft.com/office/drawing/2014/main" id="{8712E5BA-B28B-B08D-859B-D80B16E9AE19}"/>
              </a:ext>
            </a:extLst>
          </p:cNvPr>
          <p:cNvPicPr>
            <a:picLocks noGrp="1" noChangeAspect="1"/>
          </p:cNvPicPr>
          <p:nvPr>
            <p:ph sz="quarter" idx="10"/>
          </p:nvPr>
        </p:nvPicPr>
        <p:blipFill>
          <a:blip>
            <a:alphaModFix amt="20000"/>
            <a:extLst>
              <a:ext uri="{96DAC541-7B7A-43D3-8B79-37D633B846F1}">
                <asvg:svgBlip xmlns:asvg="http://schemas.microsoft.com/office/drawing/2016/SVG/main" r:embed="rId3"/>
              </a:ext>
            </a:extLst>
          </a:blip>
          <a:stretch>
            <a:fillRect/>
          </a:stretch>
        </p:blipFill>
        <p:spPr>
          <a:xfrm>
            <a:off x="6641615" y="466867"/>
            <a:ext cx="6089426" cy="6089426"/>
          </a:xfrm>
        </p:spPr>
      </p:pic>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F438013C-44B3-F027-03A5-D58D363C50C4}"/>
                  </a:ext>
                </a:extLst>
              </p:cNvPr>
              <p:cNvSpPr txBox="1"/>
              <p:nvPr/>
            </p:nvSpPr>
            <p:spPr>
              <a:xfrm>
                <a:off x="218806" y="1262130"/>
                <a:ext cx="9547101" cy="2307683"/>
              </a:xfrm>
              <a:prstGeom prst="rect">
                <a:avLst/>
              </a:prstGeom>
              <a:noFill/>
            </p:spPr>
            <p:txBody>
              <a:bodyPr wrap="none" rtlCol="0">
                <a:spAutoFit/>
              </a:bodyPr>
              <a:lstStyle/>
              <a:p>
                <a:pPr>
                  <a:lnSpc>
                    <a:spcPct val="120000"/>
                  </a:lnSpc>
                </a:pPr>
                <a:r>
                  <a:rPr lang="ja-JP" altLang="en-US" sz="4000" b="1" dirty="0">
                    <a:latin typeface="BIZ UDPゴシック" panose="020B0400000000000000" pitchFamily="50" charset="-128"/>
                    <a:ea typeface="BIZ UDPゴシック" panose="020B0400000000000000" pitchFamily="50" charset="-128"/>
                  </a:rPr>
                  <a:t>脳</a:t>
                </a:r>
                <a:r>
                  <a:rPr lang="ja-JP" altLang="en-US" sz="2800" b="1" dirty="0"/>
                  <a:t>：生物の思考や行動といった情報処理を司る器官</a:t>
                </a:r>
                <a:endParaRPr lang="en-US" altLang="ja-JP" sz="2800" b="1" dirty="0"/>
              </a:p>
              <a:p>
                <a:pPr>
                  <a:lnSpc>
                    <a:spcPct val="120000"/>
                  </a:lnSpc>
                </a:pPr>
                <a:r>
                  <a:rPr lang="en-US" altLang="ja-JP" sz="2800" b="1" dirty="0"/>
                  <a:t>	</a:t>
                </a:r>
                <a14:m>
                  <m:oMath xmlns:m="http://schemas.openxmlformats.org/officeDocument/2006/math">
                    <m:sSup>
                      <m:sSupPr>
                        <m:ctrlPr>
                          <a:rPr lang="en-US" altLang="ja-JP" sz="2800" b="1" i="1" smtClean="0">
                            <a:latin typeface="Cambria Math" panose="02040503050406030204" pitchFamily="18" charset="0"/>
                          </a:rPr>
                        </m:ctrlPr>
                      </m:sSupPr>
                      <m:e>
                        <m:r>
                          <a:rPr lang="en-US" altLang="ja-JP" sz="2800" b="1" i="1" smtClean="0">
                            <a:latin typeface="Cambria Math" panose="02040503050406030204" pitchFamily="18" charset="0"/>
                          </a:rPr>
                          <m:t>𝟏𝟎</m:t>
                        </m:r>
                      </m:e>
                      <m:sup>
                        <m:r>
                          <a:rPr lang="en-US" altLang="ja-JP" sz="2800" b="1" i="1" smtClean="0">
                            <a:latin typeface="Cambria Math" panose="02040503050406030204" pitchFamily="18" charset="0"/>
                          </a:rPr>
                          <m:t>𝟗</m:t>
                        </m:r>
                      </m:sup>
                    </m:sSup>
                    <m:r>
                      <a:rPr lang="en-US" altLang="ja-JP" sz="2800" b="1" i="1" smtClean="0">
                        <a:latin typeface="Cambria Math" panose="02040503050406030204" pitchFamily="18" charset="0"/>
                        <a:ea typeface="Cambria Math" panose="02040503050406030204" pitchFamily="18" charset="0"/>
                      </a:rPr>
                      <m:t>~</m:t>
                    </m:r>
                    <m:sSup>
                      <m:sSupPr>
                        <m:ctrlPr>
                          <a:rPr lang="en-US" altLang="ja-JP" sz="2800" b="1" i="1" smtClean="0">
                            <a:latin typeface="Cambria Math" panose="02040503050406030204" pitchFamily="18" charset="0"/>
                            <a:ea typeface="Cambria Math" panose="02040503050406030204" pitchFamily="18" charset="0"/>
                          </a:rPr>
                        </m:ctrlPr>
                      </m:sSupPr>
                      <m:e>
                        <m:r>
                          <a:rPr lang="en-US" altLang="ja-JP" sz="2800" b="1" i="1" smtClean="0">
                            <a:latin typeface="Cambria Math" panose="02040503050406030204" pitchFamily="18" charset="0"/>
                            <a:ea typeface="Cambria Math" panose="02040503050406030204" pitchFamily="18" charset="0"/>
                          </a:rPr>
                          <m:t>𝟏𝟎</m:t>
                        </m:r>
                      </m:e>
                      <m:sup>
                        <m:r>
                          <a:rPr lang="en-US" altLang="ja-JP" sz="2800" b="1" i="1" smtClean="0">
                            <a:latin typeface="Cambria Math" panose="02040503050406030204" pitchFamily="18" charset="0"/>
                            <a:ea typeface="Cambria Math" panose="02040503050406030204" pitchFamily="18" charset="0"/>
                          </a:rPr>
                          <m:t>𝟏𝟏</m:t>
                        </m:r>
                      </m:sup>
                    </m:sSup>
                  </m:oMath>
                </a14:m>
                <a:r>
                  <a:rPr lang="ja-JP" altLang="en-US" sz="2800" b="1" dirty="0"/>
                  <a:t>個の神経細胞によってネットワークを構成</a:t>
                </a:r>
                <a:endParaRPr lang="en-US" altLang="ja-JP" sz="2800" b="1" dirty="0"/>
              </a:p>
              <a:p>
                <a:pPr>
                  <a:lnSpc>
                    <a:spcPct val="120000"/>
                  </a:lnSpc>
                </a:pPr>
                <a:r>
                  <a:rPr lang="en-US" altLang="ja-JP" sz="2800" b="1" dirty="0"/>
                  <a:t>	</a:t>
                </a:r>
                <a:r>
                  <a:rPr lang="ja-JP" altLang="en-US" sz="2800" b="1" dirty="0"/>
                  <a:t>細胞間は電気信号によって情報を伝達</a:t>
                </a:r>
                <a:endParaRPr lang="en-US" altLang="ja-JP" sz="2800" b="1" dirty="0"/>
              </a:p>
              <a:p>
                <a:r>
                  <a:rPr kumimoji="1" lang="ja-JP" altLang="en-US" sz="2800" b="1" dirty="0"/>
                  <a:t>　　</a:t>
                </a:r>
              </a:p>
            </p:txBody>
          </p:sp>
        </mc:Choice>
        <mc:Fallback xmlns="">
          <p:sp>
            <p:nvSpPr>
              <p:cNvPr id="10" name="テキスト ボックス 9">
                <a:extLst>
                  <a:ext uri="{FF2B5EF4-FFF2-40B4-BE49-F238E27FC236}">
                    <a16:creationId xmlns:a16="http://schemas.microsoft.com/office/drawing/2014/main" id="{F438013C-44B3-F027-03A5-D58D363C50C4}"/>
                  </a:ext>
                </a:extLst>
              </p:cNvPr>
              <p:cNvSpPr txBox="1">
                <a:spLocks noRot="1" noChangeAspect="1" noMove="1" noResize="1" noEditPoints="1" noAdjustHandles="1" noChangeArrowheads="1" noChangeShapeType="1" noTextEdit="1"/>
              </p:cNvSpPr>
              <p:nvPr/>
            </p:nvSpPr>
            <p:spPr>
              <a:xfrm>
                <a:off x="218806" y="1262130"/>
                <a:ext cx="9547101" cy="2307683"/>
              </a:xfrm>
              <a:prstGeom prst="rect">
                <a:avLst/>
              </a:prstGeom>
              <a:blipFill>
                <a:blip r:embed="rId4"/>
                <a:stretch>
                  <a:fillRect l="-2299" t="-4222"/>
                </a:stretch>
              </a:blipFill>
            </p:spPr>
            <p:txBody>
              <a:bodyPr/>
              <a:lstStyle/>
              <a:p>
                <a:r>
                  <a:rPr lang="ja-JP" altLang="en-US">
                    <a:noFill/>
                  </a:rPr>
                  <a:t> </a:t>
                </a:r>
              </a:p>
            </p:txBody>
          </p:sp>
        </mc:Fallback>
      </mc:AlternateContent>
      <p:pic>
        <p:nvPicPr>
          <p:cNvPr id="12" name="グラフィックス 11" descr="神経 枠線">
            <a:extLst>
              <a:ext uri="{FF2B5EF4-FFF2-40B4-BE49-F238E27FC236}">
                <a16:creationId xmlns:a16="http://schemas.microsoft.com/office/drawing/2014/main" id="{413A7C5C-1EEA-4FD6-BF43-FC01ABA163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0" y="3484175"/>
            <a:ext cx="2748195" cy="2748195"/>
          </a:xfrm>
          <a:prstGeom prst="rect">
            <a:avLst/>
          </a:prstGeom>
          <a:effectLst>
            <a:glow rad="127000">
              <a:srgbClr val="FFC000">
                <a:alpha val="20000"/>
              </a:srgbClr>
            </a:glow>
            <a:outerShdw blurRad="50800" dist="38100" dir="2700000" algn="tl" rotWithShape="0">
              <a:prstClr val="black">
                <a:alpha val="40000"/>
              </a:prstClr>
            </a:outerShdw>
          </a:effectLst>
        </p:spPr>
      </p:pic>
      <p:sp>
        <p:nvSpPr>
          <p:cNvPr id="15" name="矢印: 右 14">
            <a:extLst>
              <a:ext uri="{FF2B5EF4-FFF2-40B4-BE49-F238E27FC236}">
                <a16:creationId xmlns:a16="http://schemas.microsoft.com/office/drawing/2014/main" id="{E37034D0-F50F-C7FA-176F-2D7FA682C0F5}"/>
              </a:ext>
            </a:extLst>
          </p:cNvPr>
          <p:cNvSpPr/>
          <p:nvPr/>
        </p:nvSpPr>
        <p:spPr>
          <a:xfrm>
            <a:off x="2749348" y="4519461"/>
            <a:ext cx="3028828" cy="698712"/>
          </a:xfrm>
          <a:prstGeom prst="rightArrow">
            <a:avLst>
              <a:gd name="adj1" fmla="val 24688"/>
              <a:gd name="adj2" fmla="val 7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DF3059BE-C893-67C3-3CA7-200DEA5E9869}"/>
              </a:ext>
            </a:extLst>
          </p:cNvPr>
          <p:cNvSpPr txBox="1"/>
          <p:nvPr/>
        </p:nvSpPr>
        <p:spPr>
          <a:xfrm>
            <a:off x="2857982" y="3996241"/>
            <a:ext cx="2095018" cy="523220"/>
          </a:xfrm>
          <a:prstGeom prst="rect">
            <a:avLst/>
          </a:prstGeom>
          <a:noFill/>
        </p:spPr>
        <p:txBody>
          <a:bodyPr wrap="square" rtlCol="0">
            <a:spAutoFit/>
          </a:bodyPr>
          <a:lstStyle/>
          <a:p>
            <a:r>
              <a:rPr lang="ja-JP" altLang="en-US" sz="2800" b="1" dirty="0"/>
              <a:t>イオン電流</a:t>
            </a:r>
            <a:endParaRPr kumimoji="1" lang="ja-JP" altLang="en-US" sz="2800" b="1" dirty="0"/>
          </a:p>
        </p:txBody>
      </p:sp>
      <p:pic>
        <p:nvPicPr>
          <p:cNvPr id="19" name="グラフィックス 18" descr="稲妻 単色塗りつぶし">
            <a:extLst>
              <a:ext uri="{FF2B5EF4-FFF2-40B4-BE49-F238E27FC236}">
                <a16:creationId xmlns:a16="http://schemas.microsoft.com/office/drawing/2014/main" id="{CE31F6DF-A40D-5A85-72BA-A150BF22E1B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80193" y="3712775"/>
            <a:ext cx="914400" cy="914400"/>
          </a:xfrm>
          <a:prstGeom prst="rect">
            <a:avLst/>
          </a:prstGeom>
        </p:spPr>
      </p:pic>
      <p:sp>
        <p:nvSpPr>
          <p:cNvPr id="21" name="矢印: 右 20">
            <a:extLst>
              <a:ext uri="{FF2B5EF4-FFF2-40B4-BE49-F238E27FC236}">
                <a16:creationId xmlns:a16="http://schemas.microsoft.com/office/drawing/2014/main" id="{DC6E4A7B-C487-B2C5-3581-92439197279B}"/>
              </a:ext>
            </a:extLst>
          </p:cNvPr>
          <p:cNvSpPr/>
          <p:nvPr/>
        </p:nvSpPr>
        <p:spPr>
          <a:xfrm>
            <a:off x="8246358" y="4508916"/>
            <a:ext cx="3028828" cy="698712"/>
          </a:xfrm>
          <a:prstGeom prst="rightArrow">
            <a:avLst>
              <a:gd name="adj1" fmla="val 24688"/>
              <a:gd name="adj2" fmla="val 7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グラフィックス 22" descr="神経 枠線">
            <a:extLst>
              <a:ext uri="{FF2B5EF4-FFF2-40B4-BE49-F238E27FC236}">
                <a16:creationId xmlns:a16="http://schemas.microsoft.com/office/drawing/2014/main" id="{769A8EFA-E59A-DABC-B57A-11D7CF6159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01113" y="3603868"/>
            <a:ext cx="2748195" cy="2748195"/>
          </a:xfrm>
          <a:prstGeom prst="rect">
            <a:avLst/>
          </a:prstGeom>
          <a:effectLst>
            <a:glow rad="127000">
              <a:srgbClr val="FFC000">
                <a:alpha val="70000"/>
              </a:srgbClr>
            </a:glow>
            <a:outerShdw blurRad="50800" dist="38100" dir="2700000" algn="tl" rotWithShape="0">
              <a:prstClr val="black">
                <a:alpha val="40000"/>
              </a:prstClr>
            </a:outerShdw>
          </a:effectLst>
        </p:spPr>
      </p:pic>
      <p:sp>
        <p:nvSpPr>
          <p:cNvPr id="25" name="テキスト ボックス 24">
            <a:extLst>
              <a:ext uri="{FF2B5EF4-FFF2-40B4-BE49-F238E27FC236}">
                <a16:creationId xmlns:a16="http://schemas.microsoft.com/office/drawing/2014/main" id="{CF8FBD85-D703-D667-7044-698086A1F03B}"/>
              </a:ext>
            </a:extLst>
          </p:cNvPr>
          <p:cNvSpPr txBox="1"/>
          <p:nvPr/>
        </p:nvSpPr>
        <p:spPr>
          <a:xfrm>
            <a:off x="8597421" y="3996241"/>
            <a:ext cx="2095018" cy="523220"/>
          </a:xfrm>
          <a:prstGeom prst="rect">
            <a:avLst/>
          </a:prstGeom>
          <a:noFill/>
        </p:spPr>
        <p:txBody>
          <a:bodyPr wrap="square" rtlCol="0">
            <a:spAutoFit/>
          </a:bodyPr>
          <a:lstStyle/>
          <a:p>
            <a:r>
              <a:rPr lang="ja-JP" altLang="en-US" sz="2800" b="1" dirty="0"/>
              <a:t>次の細胞へ</a:t>
            </a:r>
            <a:endParaRPr kumimoji="1" lang="ja-JP" altLang="en-US" sz="2800" b="1" dirty="0"/>
          </a:p>
        </p:txBody>
      </p:sp>
    </p:spTree>
    <p:extLst>
      <p:ext uri="{BB962C8B-B14F-4D97-AF65-F5344CB8AC3E}">
        <p14:creationId xmlns:p14="http://schemas.microsoft.com/office/powerpoint/2010/main" val="3187486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556B4D9B-87ED-2229-28A2-43ACE7C7CF01}"/>
              </a:ext>
            </a:extLst>
          </p:cNvPr>
          <p:cNvPicPr>
            <a:picLocks noGrp="1" noChangeAspect="1"/>
          </p:cNvPicPr>
          <p:nvPr>
            <p:ph sz="quarter" idx="10"/>
          </p:nvPr>
        </p:nvPicPr>
        <p:blipFill>
          <a:blip r:embed="rId3"/>
          <a:stretch>
            <a:fillRect/>
          </a:stretch>
        </p:blipFill>
        <p:spPr>
          <a:xfrm>
            <a:off x="5874090" y="1062037"/>
            <a:ext cx="6317910" cy="5046663"/>
          </a:xfrm>
          <a:prstGeom prst="rect">
            <a:avLst/>
          </a:prstGeom>
        </p:spPr>
      </p:pic>
      <p:sp>
        <p:nvSpPr>
          <p:cNvPr id="2" name="タイトル 1">
            <a:extLst>
              <a:ext uri="{FF2B5EF4-FFF2-40B4-BE49-F238E27FC236}">
                <a16:creationId xmlns:a16="http://schemas.microsoft.com/office/drawing/2014/main" id="{3495F65B-01E5-524D-E1A4-92AF82EAFA57}"/>
              </a:ext>
            </a:extLst>
          </p:cNvPr>
          <p:cNvSpPr>
            <a:spLocks noGrp="1"/>
          </p:cNvSpPr>
          <p:nvPr>
            <p:ph type="title"/>
          </p:nvPr>
        </p:nvSpPr>
        <p:spPr/>
        <p:txBody>
          <a:bodyPr/>
          <a:lstStyle/>
          <a:p>
            <a:r>
              <a:rPr kumimoji="1" lang="ja-JP" altLang="en-US" dirty="0"/>
              <a:t>神経細胞の数理モデル</a:t>
            </a:r>
          </a:p>
        </p:txBody>
      </p:sp>
      <p:sp>
        <p:nvSpPr>
          <p:cNvPr id="6" name="テキスト ボックス 5">
            <a:extLst>
              <a:ext uri="{FF2B5EF4-FFF2-40B4-BE49-F238E27FC236}">
                <a16:creationId xmlns:a16="http://schemas.microsoft.com/office/drawing/2014/main" id="{6870CBB2-3FD4-3323-7EAF-D38C49A2B59E}"/>
              </a:ext>
            </a:extLst>
          </p:cNvPr>
          <p:cNvSpPr txBox="1"/>
          <p:nvPr/>
        </p:nvSpPr>
        <p:spPr>
          <a:xfrm>
            <a:off x="218806" y="1257985"/>
            <a:ext cx="6121400" cy="4199483"/>
          </a:xfrm>
          <a:prstGeom prst="rect">
            <a:avLst/>
          </a:prstGeom>
          <a:noFill/>
        </p:spPr>
        <p:txBody>
          <a:bodyPr wrap="square">
            <a:spAutoFit/>
          </a:bodyPr>
          <a:lstStyle/>
          <a:p>
            <a:pPr>
              <a:lnSpc>
                <a:spcPct val="120000"/>
              </a:lnSpc>
            </a:pPr>
            <a:r>
              <a:rPr lang="ja-JP" altLang="en-US" sz="2800" b="1" dirty="0"/>
              <a:t>電流刺激に対する</a:t>
            </a:r>
            <a:r>
              <a:rPr lang="ja-JP" altLang="ja-JP" sz="2800" b="1" dirty="0"/>
              <a:t>膜電位応答</a:t>
            </a:r>
            <a:endParaRPr lang="en-US" altLang="ja-JP" sz="2800" b="1" dirty="0"/>
          </a:p>
          <a:p>
            <a:pPr lvl="1">
              <a:lnSpc>
                <a:spcPct val="120000"/>
              </a:lnSpc>
            </a:pPr>
            <a:r>
              <a:rPr lang="ja-JP" altLang="en-US" sz="2800" b="1" dirty="0"/>
              <a:t>　</a:t>
            </a:r>
            <a:r>
              <a:rPr lang="ja-JP" altLang="ja-JP" sz="2800" b="1" dirty="0"/>
              <a:t>連立の</a:t>
            </a:r>
            <a:r>
              <a:rPr lang="ja-JP" altLang="en-US" sz="2800" b="1" dirty="0"/>
              <a:t>非線形な</a:t>
            </a:r>
            <a:endParaRPr lang="en-US" altLang="ja-JP" sz="2800" b="1" dirty="0"/>
          </a:p>
          <a:p>
            <a:pPr lvl="1">
              <a:lnSpc>
                <a:spcPct val="120000"/>
              </a:lnSpc>
            </a:pPr>
            <a:r>
              <a:rPr lang="ja-JP" altLang="en-US" sz="2800" b="1" dirty="0"/>
              <a:t>　</a:t>
            </a:r>
            <a:r>
              <a:rPr lang="ja-JP" altLang="ja-JP" sz="2800" b="1" dirty="0"/>
              <a:t>常微分方程式を解</a:t>
            </a:r>
            <a:r>
              <a:rPr lang="ja-JP" altLang="en-US" sz="2800" b="1" dirty="0"/>
              <a:t>くと求まる</a:t>
            </a:r>
            <a:endParaRPr lang="en-US" altLang="ja-JP" sz="2800" b="1" dirty="0"/>
          </a:p>
          <a:p>
            <a:pPr lvl="1">
              <a:lnSpc>
                <a:spcPct val="120000"/>
              </a:lnSpc>
            </a:pPr>
            <a:endParaRPr lang="en-US" altLang="ja-JP" sz="2800" b="1" dirty="0"/>
          </a:p>
          <a:p>
            <a:pPr>
              <a:lnSpc>
                <a:spcPct val="120000"/>
              </a:lnSpc>
            </a:pPr>
            <a:r>
              <a:rPr lang="ja-JP" altLang="en-US" sz="2800" b="1" dirty="0"/>
              <a:t>内部に複数の状態</a:t>
            </a:r>
            <a:r>
              <a:rPr lang="ja-JP" altLang="ja-JP" sz="2800" b="1" dirty="0"/>
              <a:t>変数</a:t>
            </a:r>
            <a:r>
              <a:rPr lang="ja-JP" altLang="en-US" sz="2800" b="1" dirty="0"/>
              <a:t>を持つ</a:t>
            </a:r>
            <a:endParaRPr lang="en-US" altLang="ja-JP" sz="2800" b="1" dirty="0"/>
          </a:p>
          <a:p>
            <a:pPr>
              <a:lnSpc>
                <a:spcPct val="120000"/>
              </a:lnSpc>
            </a:pPr>
            <a:r>
              <a:rPr lang="ja-JP" altLang="en-US" sz="2800" b="1" dirty="0"/>
              <a:t>各状態変数を数値積分</a:t>
            </a:r>
            <a:endParaRPr lang="en-US" altLang="ja-JP" sz="2800" b="1" dirty="0"/>
          </a:p>
          <a:p>
            <a:pPr lvl="1">
              <a:lnSpc>
                <a:spcPct val="120000"/>
              </a:lnSpc>
            </a:pPr>
            <a:r>
              <a:rPr lang="ja-JP" altLang="en-US" sz="2800" b="1" dirty="0"/>
              <a:t>　時間計算量</a:t>
            </a:r>
            <a:endParaRPr lang="en-US" altLang="ja-JP" sz="2800" b="1" dirty="0"/>
          </a:p>
          <a:p>
            <a:pPr lvl="1">
              <a:lnSpc>
                <a:spcPct val="120000"/>
              </a:lnSpc>
            </a:pPr>
            <a:r>
              <a:rPr lang="ja-JP" altLang="en-US" sz="2800" b="1" dirty="0"/>
              <a:t>　空間計算量</a:t>
            </a:r>
          </a:p>
        </p:txBody>
      </p:sp>
      <p:sp>
        <p:nvSpPr>
          <p:cNvPr id="8" name="テキスト ボックス 7">
            <a:extLst>
              <a:ext uri="{FF2B5EF4-FFF2-40B4-BE49-F238E27FC236}">
                <a16:creationId xmlns:a16="http://schemas.microsoft.com/office/drawing/2014/main" id="{5ECE46B3-B46E-500D-18BA-93EE117642A0}"/>
              </a:ext>
            </a:extLst>
          </p:cNvPr>
          <p:cNvSpPr txBox="1"/>
          <p:nvPr/>
        </p:nvSpPr>
        <p:spPr>
          <a:xfrm>
            <a:off x="6899006" y="5942779"/>
            <a:ext cx="6121400" cy="461665"/>
          </a:xfrm>
          <a:prstGeom prst="rect">
            <a:avLst/>
          </a:prstGeom>
          <a:noFill/>
        </p:spPr>
        <p:txBody>
          <a:bodyPr wrap="square">
            <a:spAutoFit/>
          </a:bodyPr>
          <a:lstStyle/>
          <a:p>
            <a:r>
              <a:rPr lang="en-US" altLang="ja-JP" sz="2400" dirty="0"/>
              <a:t>Hodgkin-Huxley</a:t>
            </a:r>
            <a:r>
              <a:rPr lang="ja-JP" altLang="en-US" sz="2400" dirty="0"/>
              <a:t>モデル</a:t>
            </a:r>
            <a:r>
              <a:rPr lang="en-US" altLang="ja-JP" sz="2400" dirty="0"/>
              <a:t>(1952)</a:t>
            </a:r>
          </a:p>
        </p:txBody>
      </p:sp>
      <p:sp>
        <p:nvSpPr>
          <p:cNvPr id="9" name="テキスト ボックス 8">
            <a:extLst>
              <a:ext uri="{FF2B5EF4-FFF2-40B4-BE49-F238E27FC236}">
                <a16:creationId xmlns:a16="http://schemas.microsoft.com/office/drawing/2014/main" id="{319E03EE-16E6-C422-169E-053D55F7CCD3}"/>
              </a:ext>
            </a:extLst>
          </p:cNvPr>
          <p:cNvSpPr txBox="1"/>
          <p:nvPr/>
        </p:nvSpPr>
        <p:spPr>
          <a:xfrm>
            <a:off x="104506" y="4489958"/>
            <a:ext cx="5388619" cy="707886"/>
          </a:xfrm>
          <a:prstGeom prst="rect">
            <a:avLst/>
          </a:prstGeom>
          <a:noFill/>
        </p:spPr>
        <p:txBody>
          <a:bodyPr wrap="square" rtlCol="0">
            <a:spAutoFit/>
          </a:bodyPr>
          <a:lstStyle/>
          <a:p>
            <a:r>
              <a:rPr lang="ja-JP" altLang="en-US" sz="2800" b="1" dirty="0"/>
              <a:t>　</a:t>
            </a:r>
            <a:r>
              <a:rPr lang="ja-JP" altLang="en-US" sz="4000" b="1" dirty="0"/>
              <a:t>→</a:t>
            </a:r>
            <a:r>
              <a:rPr lang="ja-JP" altLang="en-US" sz="2800" b="1" dirty="0"/>
              <a:t>　　　　　　 ともに大きい</a:t>
            </a:r>
            <a:endParaRPr kumimoji="1" lang="ja-JP" altLang="en-US" sz="2800" b="1" dirty="0"/>
          </a:p>
        </p:txBody>
      </p:sp>
      <p:sp>
        <p:nvSpPr>
          <p:cNvPr id="5" name="テキスト ボックス 4">
            <a:extLst>
              <a:ext uri="{FF2B5EF4-FFF2-40B4-BE49-F238E27FC236}">
                <a16:creationId xmlns:a16="http://schemas.microsoft.com/office/drawing/2014/main" id="{F1CBB224-F65F-2D14-E553-33795EFD5B0A}"/>
              </a:ext>
            </a:extLst>
          </p:cNvPr>
          <p:cNvSpPr txBox="1"/>
          <p:nvPr/>
        </p:nvSpPr>
        <p:spPr>
          <a:xfrm>
            <a:off x="531495" y="1931771"/>
            <a:ext cx="6526530" cy="707886"/>
          </a:xfrm>
          <a:prstGeom prst="rect">
            <a:avLst/>
          </a:prstGeom>
          <a:noFill/>
        </p:spPr>
        <p:txBody>
          <a:bodyPr wrap="square">
            <a:spAutoFit/>
          </a:bodyPr>
          <a:lstStyle/>
          <a:p>
            <a:r>
              <a:rPr lang="ja-JP" altLang="en-US" sz="4000" b="1" dirty="0"/>
              <a:t>→</a:t>
            </a:r>
            <a:endParaRPr lang="ja-JP" altLang="en-US" dirty="0"/>
          </a:p>
        </p:txBody>
      </p:sp>
    </p:spTree>
    <p:extLst>
      <p:ext uri="{BB962C8B-B14F-4D97-AF65-F5344CB8AC3E}">
        <p14:creationId xmlns:p14="http://schemas.microsoft.com/office/powerpoint/2010/main" val="257391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AE473C-9043-F48E-8807-C6E1EF45246F}"/>
              </a:ext>
            </a:extLst>
          </p:cNvPr>
          <p:cNvSpPr>
            <a:spLocks noGrp="1"/>
          </p:cNvSpPr>
          <p:nvPr>
            <p:ph type="title"/>
          </p:nvPr>
        </p:nvSpPr>
        <p:spPr/>
        <p:txBody>
          <a:bodyPr/>
          <a:lstStyle/>
          <a:p>
            <a:r>
              <a:rPr kumimoji="1" lang="ja-JP" altLang="en-US" dirty="0"/>
              <a:t>大規模シミュレーション</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D844384-35F1-8384-676F-B5432E9178AA}"/>
                  </a:ext>
                </a:extLst>
              </p:cNvPr>
              <p:cNvSpPr>
                <a:spLocks noGrp="1"/>
              </p:cNvSpPr>
              <p:nvPr>
                <p:ph sz="quarter" idx="10"/>
              </p:nvPr>
            </p:nvSpPr>
            <p:spPr>
              <a:xfrm>
                <a:off x="218806" y="1005804"/>
                <a:ext cx="6195856" cy="1226407"/>
              </a:xfrm>
            </p:spPr>
            <p:txBody>
              <a:bodyPr/>
              <a:lstStyle/>
              <a:p>
                <a:r>
                  <a:rPr lang="ja-JP" altLang="en-US" dirty="0"/>
                  <a:t>全脳をシミュレーションする場合</a:t>
                </a:r>
                <a:endParaRPr lang="en-US" altLang="ja-JP" dirty="0"/>
              </a:p>
              <a:p>
                <a:r>
                  <a:rPr lang="ja-JP" altLang="en-US" dirty="0"/>
                  <a:t>神経細胞モデルを</a:t>
                </a:r>
                <a14:m>
                  <m:oMath xmlns:m="http://schemas.openxmlformats.org/officeDocument/2006/math">
                    <m:sSup>
                      <m:sSupPr>
                        <m:ctrlPr>
                          <a:rPr lang="en-US" altLang="ja-JP" i="1">
                            <a:latin typeface="Cambria Math" panose="02040503050406030204" pitchFamily="18" charset="0"/>
                          </a:rPr>
                        </m:ctrlPr>
                      </m:sSupPr>
                      <m:e>
                        <m:r>
                          <a:rPr lang="en-US" altLang="ja-JP" i="1">
                            <a:latin typeface="Cambria Math" panose="02040503050406030204" pitchFamily="18" charset="0"/>
                          </a:rPr>
                          <m:t>𝟏𝟎</m:t>
                        </m:r>
                      </m:e>
                      <m:sup>
                        <m:r>
                          <a:rPr lang="en-US" altLang="ja-JP" i="1">
                            <a:latin typeface="Cambria Math" panose="02040503050406030204" pitchFamily="18" charset="0"/>
                          </a:rPr>
                          <m:t>𝟗</m:t>
                        </m:r>
                      </m:sup>
                    </m:sSup>
                    <m:r>
                      <a:rPr lang="en-US" altLang="ja-JP" i="1">
                        <a:latin typeface="Cambria Math" panose="02040503050406030204" pitchFamily="18" charset="0"/>
                        <a:ea typeface="Cambria Math" panose="02040503050406030204" pitchFamily="18" charset="0"/>
                      </a:rPr>
                      <m:t>~</m:t>
                    </m:r>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𝟏𝟎</m:t>
                        </m:r>
                      </m:e>
                      <m:sup>
                        <m:r>
                          <a:rPr lang="en-US" altLang="ja-JP" i="1">
                            <a:latin typeface="Cambria Math" panose="02040503050406030204" pitchFamily="18" charset="0"/>
                            <a:ea typeface="Cambria Math" panose="02040503050406030204" pitchFamily="18" charset="0"/>
                          </a:rPr>
                          <m:t>𝟏𝟏</m:t>
                        </m:r>
                      </m:sup>
                    </m:sSup>
                  </m:oMath>
                </a14:m>
                <a:r>
                  <a:rPr lang="ja-JP" altLang="en-US" dirty="0"/>
                  <a:t>個</a:t>
                </a:r>
                <a:endParaRPr lang="en-US" altLang="ja-JP" dirty="0"/>
              </a:p>
              <a:p>
                <a:endParaRPr lang="en-US" altLang="ja-JP" dirty="0"/>
              </a:p>
              <a:p>
                <a:endParaRPr lang="en-US" altLang="ja-JP" dirty="0"/>
              </a:p>
              <a:p>
                <a:endParaRPr lang="en-US" altLang="ja-JP" dirty="0"/>
              </a:p>
              <a:p>
                <a:r>
                  <a:rPr lang="ja-JP" altLang="en-US" dirty="0"/>
                  <a:t>計算コストが大きすぎるので</a:t>
                </a:r>
                <a:endParaRPr lang="en-US" altLang="ja-JP" dirty="0"/>
              </a:p>
              <a:p>
                <a:r>
                  <a:rPr lang="ja-JP" altLang="en-US" dirty="0"/>
                  <a:t>神経細胞</a:t>
                </a:r>
                <a:r>
                  <a:rPr lang="en-US" altLang="ja-JP" dirty="0"/>
                  <a:t>1</a:t>
                </a:r>
                <a:r>
                  <a:rPr lang="ja-JP" altLang="en-US" dirty="0"/>
                  <a:t>つあたりの計算量を</a:t>
                </a:r>
                <a:endParaRPr lang="en-US" altLang="ja-JP" dirty="0"/>
              </a:p>
              <a:p>
                <a:r>
                  <a:rPr lang="ja-JP" altLang="en-US" dirty="0"/>
                  <a:t>減らさなければ ならない</a:t>
                </a:r>
                <a:endParaRPr lang="en-US" altLang="ja-JP" dirty="0"/>
              </a:p>
              <a:p>
                <a:endParaRPr kumimoji="1" lang="en-US" altLang="ja-JP" dirty="0"/>
              </a:p>
              <a:p>
                <a:endParaRPr kumimoji="1" lang="en-US" altLang="ja-JP" dirty="0"/>
              </a:p>
              <a:p>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CD844384-35F1-8384-676F-B5432E9178AA}"/>
                  </a:ext>
                </a:extLst>
              </p:cNvPr>
              <p:cNvSpPr>
                <a:spLocks noGrp="1" noRot="1" noChangeAspect="1" noMove="1" noResize="1" noEditPoints="1" noAdjustHandles="1" noChangeArrowheads="1" noChangeShapeType="1" noTextEdit="1"/>
              </p:cNvSpPr>
              <p:nvPr>
                <p:ph sz="quarter" idx="10"/>
              </p:nvPr>
            </p:nvSpPr>
            <p:spPr>
              <a:xfrm>
                <a:off x="218806" y="1005804"/>
                <a:ext cx="6195856" cy="1226407"/>
              </a:xfrm>
              <a:blipFill>
                <a:blip r:embed="rId2"/>
                <a:stretch>
                  <a:fillRect l="-2067" t="-995" b="-326866"/>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4F58D561-4CDC-8DF0-0B0A-AA6F9D198755}"/>
              </a:ext>
            </a:extLst>
          </p:cNvPr>
          <p:cNvPicPr>
            <a:picLocks noChangeAspect="1"/>
          </p:cNvPicPr>
          <p:nvPr/>
        </p:nvPicPr>
        <p:blipFill>
          <a:blip r:embed="rId3"/>
          <a:stretch>
            <a:fillRect/>
          </a:stretch>
        </p:blipFill>
        <p:spPr>
          <a:xfrm>
            <a:off x="6414662" y="860417"/>
            <a:ext cx="5777338" cy="3348042"/>
          </a:xfrm>
          <a:prstGeom prst="rect">
            <a:avLst/>
          </a:prstGeom>
        </p:spPr>
      </p:pic>
      <p:pic>
        <p:nvPicPr>
          <p:cNvPr id="9" name="図 8">
            <a:extLst>
              <a:ext uri="{FF2B5EF4-FFF2-40B4-BE49-F238E27FC236}">
                <a16:creationId xmlns:a16="http://schemas.microsoft.com/office/drawing/2014/main" id="{DFB684E7-FA95-E02E-C347-32965D687B01}"/>
              </a:ext>
            </a:extLst>
          </p:cNvPr>
          <p:cNvPicPr>
            <a:picLocks noChangeAspect="1"/>
          </p:cNvPicPr>
          <p:nvPr/>
        </p:nvPicPr>
        <p:blipFill>
          <a:blip r:embed="rId4"/>
          <a:stretch>
            <a:fillRect/>
          </a:stretch>
        </p:blipFill>
        <p:spPr>
          <a:xfrm>
            <a:off x="6414662" y="4249742"/>
            <a:ext cx="2136589" cy="2608258"/>
          </a:xfrm>
          <a:prstGeom prst="rect">
            <a:avLst/>
          </a:prstGeom>
        </p:spPr>
      </p:pic>
      <p:sp>
        <p:nvSpPr>
          <p:cNvPr id="12" name="矢印: 右 11">
            <a:extLst>
              <a:ext uri="{FF2B5EF4-FFF2-40B4-BE49-F238E27FC236}">
                <a16:creationId xmlns:a16="http://schemas.microsoft.com/office/drawing/2014/main" id="{37F30E8E-E621-74E0-8ADE-B500D22C5D49}"/>
              </a:ext>
            </a:extLst>
          </p:cNvPr>
          <p:cNvSpPr/>
          <p:nvPr/>
        </p:nvSpPr>
        <p:spPr>
          <a:xfrm rot="5400000">
            <a:off x="2192810" y="2918515"/>
            <a:ext cx="1226407" cy="698712"/>
          </a:xfrm>
          <a:prstGeom prst="rightArrow">
            <a:avLst>
              <a:gd name="adj1" fmla="val 24688"/>
              <a:gd name="adj2" fmla="val 7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61192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4F2C29-A209-A97F-BB9B-88952F2E4B90}"/>
              </a:ext>
            </a:extLst>
          </p:cNvPr>
          <p:cNvSpPr>
            <a:spLocks noGrp="1"/>
          </p:cNvSpPr>
          <p:nvPr>
            <p:ph type="title"/>
          </p:nvPr>
        </p:nvSpPr>
        <p:spPr/>
        <p:txBody>
          <a:bodyPr/>
          <a:lstStyle/>
          <a:p>
            <a:r>
              <a:rPr kumimoji="1" lang="en-US" altLang="ja-JP" dirty="0"/>
              <a:t>RNN</a:t>
            </a:r>
            <a:r>
              <a:rPr kumimoji="1" lang="ja-JP" altLang="en-US" dirty="0"/>
              <a:t>代理モデル</a:t>
            </a:r>
          </a:p>
        </p:txBody>
      </p:sp>
      <p:sp>
        <p:nvSpPr>
          <p:cNvPr id="13" name="Rounded Rectangle 3">
            <a:extLst>
              <a:ext uri="{FF2B5EF4-FFF2-40B4-BE49-F238E27FC236}">
                <a16:creationId xmlns:a16="http://schemas.microsoft.com/office/drawing/2014/main" id="{3CD9DF73-5FB7-19B1-FC49-445A4CD9F957}"/>
              </a:ext>
            </a:extLst>
          </p:cNvPr>
          <p:cNvSpPr/>
          <p:nvPr/>
        </p:nvSpPr>
        <p:spPr>
          <a:xfrm>
            <a:off x="6173586" y="1080247"/>
            <a:ext cx="5741894" cy="5181600"/>
          </a:xfrm>
          <a:prstGeom prst="roundRect">
            <a:avLst>
              <a:gd name="adj" fmla="val 2205"/>
            </a:avLst>
          </a:prstGeom>
          <a:solidFill>
            <a:srgbClr val="F0F9FF"/>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14" name="Rounded Rectangle 3">
            <a:extLst>
              <a:ext uri="{FF2B5EF4-FFF2-40B4-BE49-F238E27FC236}">
                <a16:creationId xmlns:a16="http://schemas.microsoft.com/office/drawing/2014/main" id="{61DC9ABF-5FD3-8766-2A06-DB2A0866A118}"/>
              </a:ext>
            </a:extLst>
          </p:cNvPr>
          <p:cNvSpPr/>
          <p:nvPr/>
        </p:nvSpPr>
        <p:spPr>
          <a:xfrm>
            <a:off x="218806" y="1080247"/>
            <a:ext cx="5741894" cy="5181600"/>
          </a:xfrm>
          <a:prstGeom prst="roundRect">
            <a:avLst>
              <a:gd name="adj" fmla="val 2205"/>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7" name="テキスト ボックス 16">
            <a:extLst>
              <a:ext uri="{FF2B5EF4-FFF2-40B4-BE49-F238E27FC236}">
                <a16:creationId xmlns:a16="http://schemas.microsoft.com/office/drawing/2014/main" id="{FB3F9375-3FB2-885E-86AA-697F8C035F39}"/>
              </a:ext>
            </a:extLst>
          </p:cNvPr>
          <p:cNvSpPr txBox="1"/>
          <p:nvPr/>
        </p:nvSpPr>
        <p:spPr>
          <a:xfrm>
            <a:off x="608199" y="1250577"/>
            <a:ext cx="2646878" cy="584775"/>
          </a:xfrm>
          <a:prstGeom prst="rect">
            <a:avLst/>
          </a:prstGeom>
          <a:noFill/>
        </p:spPr>
        <p:txBody>
          <a:bodyPr wrap="none" rtlCol="0">
            <a:spAutoFit/>
          </a:bodyPr>
          <a:lstStyle/>
          <a:p>
            <a:r>
              <a:rPr lang="ja-JP" altLang="en-US" sz="3200" b="1" dirty="0"/>
              <a:t>従来のモデル</a:t>
            </a:r>
            <a:endParaRPr kumimoji="1" lang="ja-JP" altLang="en-US" sz="3200" b="1" dirty="0"/>
          </a:p>
        </p:txBody>
      </p:sp>
      <p:sp>
        <p:nvSpPr>
          <p:cNvPr id="19" name="テキスト ボックス 18">
            <a:extLst>
              <a:ext uri="{FF2B5EF4-FFF2-40B4-BE49-F238E27FC236}">
                <a16:creationId xmlns:a16="http://schemas.microsoft.com/office/drawing/2014/main" id="{FB3FB20B-2B0A-339C-4D5D-B8F2D9EB49DA}"/>
              </a:ext>
            </a:extLst>
          </p:cNvPr>
          <p:cNvSpPr txBox="1"/>
          <p:nvPr/>
        </p:nvSpPr>
        <p:spPr>
          <a:xfrm>
            <a:off x="6341128" y="1250577"/>
            <a:ext cx="4320413" cy="584775"/>
          </a:xfrm>
          <a:prstGeom prst="rect">
            <a:avLst/>
          </a:prstGeom>
          <a:noFill/>
        </p:spPr>
        <p:txBody>
          <a:bodyPr wrap="none" rtlCol="0">
            <a:spAutoFit/>
          </a:bodyPr>
          <a:lstStyle/>
          <a:p>
            <a:r>
              <a:rPr lang="en-US" altLang="ja-JP" sz="3200" b="1" dirty="0"/>
              <a:t>RNN</a:t>
            </a:r>
            <a:r>
              <a:rPr lang="ja-JP" altLang="en-US" sz="3200" b="1" dirty="0"/>
              <a:t>による代理モデル</a:t>
            </a:r>
            <a:endParaRPr kumimoji="1" lang="ja-JP" altLang="en-US" sz="3200" b="1" dirty="0"/>
          </a:p>
        </p:txBody>
      </p:sp>
      <p:sp>
        <p:nvSpPr>
          <p:cNvPr id="21" name="テキスト ボックス 20">
            <a:extLst>
              <a:ext uri="{FF2B5EF4-FFF2-40B4-BE49-F238E27FC236}">
                <a16:creationId xmlns:a16="http://schemas.microsoft.com/office/drawing/2014/main" id="{FFDA4A43-24CB-6786-B926-6629A4D316B9}"/>
              </a:ext>
            </a:extLst>
          </p:cNvPr>
          <p:cNvSpPr txBox="1"/>
          <p:nvPr/>
        </p:nvSpPr>
        <p:spPr>
          <a:xfrm>
            <a:off x="460282" y="2331582"/>
            <a:ext cx="11455198" cy="523220"/>
          </a:xfrm>
          <a:prstGeom prst="rect">
            <a:avLst/>
          </a:prstGeom>
          <a:noFill/>
        </p:spPr>
        <p:txBody>
          <a:bodyPr wrap="square" rtlCol="0">
            <a:spAutoFit/>
          </a:bodyPr>
          <a:lstStyle/>
          <a:p>
            <a:r>
              <a:rPr kumimoji="1" lang="ja-JP" altLang="en-US" sz="2800" b="1" dirty="0"/>
              <a:t>電流 </a:t>
            </a:r>
            <a:r>
              <a:rPr kumimoji="1" lang="en-US" altLang="ja-JP" sz="2800" b="1" dirty="0">
                <a:latin typeface="Times New Roman" panose="02020603050405020304" pitchFamily="18" charset="0"/>
                <a:cs typeface="Times New Roman" panose="02020603050405020304" pitchFamily="18" charset="0"/>
              </a:rPr>
              <a:t> </a:t>
            </a:r>
            <a:r>
              <a:rPr kumimoji="1" lang="ja-JP" altLang="en-US" sz="2800" b="1" dirty="0">
                <a:latin typeface="Times New Roman" panose="02020603050405020304" pitchFamily="18" charset="0"/>
                <a:cs typeface="Times New Roman" panose="02020603050405020304" pitchFamily="18" charset="0"/>
              </a:rPr>
              <a:t>→　　　　　　    </a:t>
            </a:r>
            <a:r>
              <a:rPr lang="ja-JP" altLang="en-US" sz="2800" b="1" dirty="0">
                <a:latin typeface="Times New Roman" panose="02020603050405020304" pitchFamily="18" charset="0"/>
                <a:cs typeface="Times New Roman" panose="02020603050405020304" pitchFamily="18" charset="0"/>
              </a:rPr>
              <a:t>→ 膜電位</a:t>
            </a:r>
            <a:r>
              <a:rPr kumimoji="1" lang="ja-JP" altLang="en-US" sz="2800" b="1" dirty="0">
                <a:latin typeface="Times New Roman" panose="02020603050405020304" pitchFamily="18" charset="0"/>
                <a:cs typeface="Times New Roman" panose="02020603050405020304" pitchFamily="18" charset="0"/>
              </a:rPr>
              <a:t>　  </a:t>
            </a:r>
            <a:r>
              <a:rPr lang="ja-JP" altLang="en-US" sz="2800" b="1" dirty="0">
                <a:latin typeface="Times New Roman" panose="02020603050405020304" pitchFamily="18" charset="0"/>
                <a:cs typeface="Times New Roman" panose="02020603050405020304" pitchFamily="18" charset="0"/>
              </a:rPr>
              <a:t>電流 </a:t>
            </a:r>
            <a:r>
              <a:rPr lang="en-US" altLang="ja-JP" sz="2800" b="1" dirty="0">
                <a:latin typeface="Times New Roman" panose="02020603050405020304" pitchFamily="18" charset="0"/>
                <a:cs typeface="Times New Roman" panose="02020603050405020304" pitchFamily="18" charset="0"/>
              </a:rPr>
              <a:t> </a:t>
            </a:r>
            <a:r>
              <a:rPr lang="ja-JP" altLang="en-US" sz="2800" b="1" dirty="0">
                <a:latin typeface="Times New Roman" panose="02020603050405020304" pitchFamily="18" charset="0"/>
                <a:cs typeface="Times New Roman" panose="02020603050405020304" pitchFamily="18" charset="0"/>
              </a:rPr>
              <a:t>→     　　　　　   → 膜電位　 </a:t>
            </a:r>
            <a:endParaRPr kumimoji="1" lang="ja-JP" altLang="en-US" sz="2800" b="1" dirty="0">
              <a:latin typeface="Times New Roman" panose="02020603050405020304" pitchFamily="18" charset="0"/>
              <a:cs typeface="Times New Roman" panose="02020603050405020304" pitchFamily="18" charset="0"/>
            </a:endParaRPr>
          </a:p>
        </p:txBody>
      </p:sp>
      <p:sp>
        <p:nvSpPr>
          <p:cNvPr id="22" name="四角形: 角を丸くする 21">
            <a:extLst>
              <a:ext uri="{FF2B5EF4-FFF2-40B4-BE49-F238E27FC236}">
                <a16:creationId xmlns:a16="http://schemas.microsoft.com/office/drawing/2014/main" id="{A919E61B-E6BB-5893-6983-24FE0DECF467}"/>
              </a:ext>
            </a:extLst>
          </p:cNvPr>
          <p:cNvSpPr/>
          <p:nvPr/>
        </p:nvSpPr>
        <p:spPr>
          <a:xfrm>
            <a:off x="1931638" y="2005682"/>
            <a:ext cx="2219326" cy="1190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800" b="1" dirty="0"/>
              <a:t>連立</a:t>
            </a:r>
            <a:endParaRPr lang="en-US" altLang="ja-JP" sz="2800" b="1" dirty="0"/>
          </a:p>
          <a:p>
            <a:pPr algn="ctr"/>
            <a:r>
              <a:rPr kumimoji="1" lang="ja-JP" altLang="en-US" sz="2800" b="1" dirty="0"/>
              <a:t>微分方程式</a:t>
            </a:r>
          </a:p>
        </p:txBody>
      </p:sp>
      <p:sp>
        <p:nvSpPr>
          <p:cNvPr id="26" name="四角形: 角を丸くする 25">
            <a:extLst>
              <a:ext uri="{FF2B5EF4-FFF2-40B4-BE49-F238E27FC236}">
                <a16:creationId xmlns:a16="http://schemas.microsoft.com/office/drawing/2014/main" id="{C4C2D95D-C5F1-DB69-19C1-2DE5100B57E5}"/>
              </a:ext>
            </a:extLst>
          </p:cNvPr>
          <p:cNvSpPr/>
          <p:nvPr/>
        </p:nvSpPr>
        <p:spPr>
          <a:xfrm>
            <a:off x="7665249" y="2005681"/>
            <a:ext cx="2219326" cy="1190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b="1" dirty="0"/>
              <a:t>RNN</a:t>
            </a:r>
          </a:p>
        </p:txBody>
      </p:sp>
      <p:sp>
        <p:nvSpPr>
          <p:cNvPr id="33" name="矢印: 環状 32">
            <a:extLst>
              <a:ext uri="{FF2B5EF4-FFF2-40B4-BE49-F238E27FC236}">
                <a16:creationId xmlns:a16="http://schemas.microsoft.com/office/drawing/2014/main" id="{416F0E48-7C6E-3674-0C98-A7C92DBF7DDA}"/>
              </a:ext>
            </a:extLst>
          </p:cNvPr>
          <p:cNvSpPr/>
          <p:nvPr/>
        </p:nvSpPr>
        <p:spPr>
          <a:xfrm rot="10800000">
            <a:off x="8300567" y="2914947"/>
            <a:ext cx="948690" cy="1190625"/>
          </a:xfrm>
          <a:prstGeom prst="circularArrow">
            <a:avLst>
              <a:gd name="adj1" fmla="val 2901"/>
              <a:gd name="adj2" fmla="val 1142319"/>
              <a:gd name="adj3" fmla="val 20552564"/>
              <a:gd name="adj4" fmla="val 10800000"/>
              <a:gd name="adj5"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2" name="矢印: 環状 41">
            <a:extLst>
              <a:ext uri="{FF2B5EF4-FFF2-40B4-BE49-F238E27FC236}">
                <a16:creationId xmlns:a16="http://schemas.microsoft.com/office/drawing/2014/main" id="{9DF3C6E1-DC15-E801-C5C6-8A8938DE54AD}"/>
              </a:ext>
            </a:extLst>
          </p:cNvPr>
          <p:cNvSpPr/>
          <p:nvPr/>
        </p:nvSpPr>
        <p:spPr>
          <a:xfrm rot="10800000">
            <a:off x="2468398" y="2967963"/>
            <a:ext cx="948690" cy="1190625"/>
          </a:xfrm>
          <a:prstGeom prst="circularArrow">
            <a:avLst>
              <a:gd name="adj1" fmla="val 2901"/>
              <a:gd name="adj2" fmla="val 1142319"/>
              <a:gd name="adj3" fmla="val 20552564"/>
              <a:gd name="adj4" fmla="val 10800000"/>
              <a:gd name="adj5"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3" name="テキスト ボックス 42">
            <a:extLst>
              <a:ext uri="{FF2B5EF4-FFF2-40B4-BE49-F238E27FC236}">
                <a16:creationId xmlns:a16="http://schemas.microsoft.com/office/drawing/2014/main" id="{373DE6E5-52FA-A96D-7C59-57487062D438}"/>
              </a:ext>
            </a:extLst>
          </p:cNvPr>
          <p:cNvSpPr txBox="1"/>
          <p:nvPr/>
        </p:nvSpPr>
        <p:spPr>
          <a:xfrm>
            <a:off x="8024842" y="3832306"/>
            <a:ext cx="2764465" cy="2677656"/>
          </a:xfrm>
          <a:prstGeom prst="rect">
            <a:avLst/>
          </a:prstGeom>
          <a:noFill/>
        </p:spPr>
        <p:txBody>
          <a:bodyPr wrap="square" rtlCol="0">
            <a:spAutoFit/>
          </a:bodyPr>
          <a:lstStyle/>
          <a:p>
            <a:pPr algn="ctr"/>
            <a:endParaRPr kumimoji="1" lang="en-US" altLang="ja-JP" sz="2800" b="1" dirty="0">
              <a:latin typeface="+mn-ea"/>
              <a:cs typeface="Times New Roman" panose="02020603050405020304" pitchFamily="18" charset="0"/>
            </a:endParaRPr>
          </a:p>
          <a:p>
            <a:r>
              <a:rPr lang="ja-JP" altLang="en-US" sz="2800" b="1" dirty="0">
                <a:latin typeface="+mn-ea"/>
                <a:cs typeface="Times New Roman" panose="02020603050405020304" pitchFamily="18" charset="0"/>
              </a:rPr>
              <a:t>隠れ状態</a:t>
            </a:r>
            <a:endParaRPr kumimoji="1" lang="en-US" altLang="ja-JP" sz="2800" b="1" dirty="0">
              <a:latin typeface="+mn-ea"/>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lang="en-US" altLang="ja-JP" sz="2800" dirty="0">
              <a:latin typeface="Times New Roman" panose="02020603050405020304" pitchFamily="18" charset="0"/>
              <a:cs typeface="Times New Roman" panose="02020603050405020304" pitchFamily="18" charset="0"/>
            </a:endParaRPr>
          </a:p>
          <a:p>
            <a:endParaRPr kumimoji="1" lang="ja-JP" altLang="en-US" sz="2800" dirty="0">
              <a:latin typeface="Times New Roman" panose="02020603050405020304" pitchFamily="18" charset="0"/>
              <a:cs typeface="Times New Roman" panose="02020603050405020304" pitchFamily="18" charset="0"/>
            </a:endParaRPr>
          </a:p>
        </p:txBody>
      </p:sp>
      <p:sp>
        <p:nvSpPr>
          <p:cNvPr id="45" name="テキスト ボックス 44">
            <a:extLst>
              <a:ext uri="{FF2B5EF4-FFF2-40B4-BE49-F238E27FC236}">
                <a16:creationId xmlns:a16="http://schemas.microsoft.com/office/drawing/2014/main" id="{457098D8-FA26-AFAC-039F-047A965FE8DB}"/>
              </a:ext>
            </a:extLst>
          </p:cNvPr>
          <p:cNvSpPr txBox="1"/>
          <p:nvPr/>
        </p:nvSpPr>
        <p:spPr>
          <a:xfrm>
            <a:off x="2187255" y="3907343"/>
            <a:ext cx="2764465" cy="2677656"/>
          </a:xfrm>
          <a:prstGeom prst="rect">
            <a:avLst/>
          </a:prstGeom>
          <a:noFill/>
        </p:spPr>
        <p:txBody>
          <a:bodyPr wrap="square" rtlCol="0">
            <a:spAutoFit/>
          </a:bodyPr>
          <a:lstStyle/>
          <a:p>
            <a:pPr algn="ctr"/>
            <a:endParaRPr kumimoji="1" lang="en-US" altLang="ja-JP" sz="2800" b="1" dirty="0">
              <a:latin typeface="+mn-ea"/>
              <a:cs typeface="Times New Roman" panose="02020603050405020304" pitchFamily="18" charset="0"/>
            </a:endParaRPr>
          </a:p>
          <a:p>
            <a:r>
              <a:rPr lang="ja-JP" altLang="en-US" sz="2800" b="1" dirty="0">
                <a:latin typeface="+mn-ea"/>
                <a:cs typeface="Times New Roman" panose="02020603050405020304" pitchFamily="18" charset="0"/>
              </a:rPr>
              <a:t>状態</a:t>
            </a:r>
            <a:r>
              <a:rPr kumimoji="1" lang="ja-JP" altLang="en-US" sz="2800" b="1" dirty="0">
                <a:latin typeface="+mn-ea"/>
                <a:cs typeface="Times New Roman" panose="02020603050405020304" pitchFamily="18" charset="0"/>
              </a:rPr>
              <a:t>変数</a:t>
            </a:r>
            <a:endParaRPr kumimoji="1" lang="en-US" altLang="ja-JP" sz="2800" b="1" dirty="0">
              <a:latin typeface="+mn-ea"/>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lang="en-US" altLang="ja-JP" sz="2800" dirty="0">
              <a:latin typeface="Times New Roman" panose="02020603050405020304" pitchFamily="18" charset="0"/>
              <a:cs typeface="Times New Roman" panose="02020603050405020304" pitchFamily="18" charset="0"/>
            </a:endParaRPr>
          </a:p>
          <a:p>
            <a:endParaRPr kumimoji="1" lang="ja-JP"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056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F62566-BE55-5AA4-3F85-AAF7F6D339D9}"/>
              </a:ext>
            </a:extLst>
          </p:cNvPr>
          <p:cNvSpPr>
            <a:spLocks noGrp="1"/>
          </p:cNvSpPr>
          <p:nvPr>
            <p:ph type="title"/>
          </p:nvPr>
        </p:nvSpPr>
        <p:spPr/>
        <p:txBody>
          <a:bodyPr/>
          <a:lstStyle/>
          <a:p>
            <a:r>
              <a:rPr kumimoji="1" lang="ja-JP" altLang="en-US" dirty="0"/>
              <a:t>なぜ</a:t>
            </a:r>
            <a:r>
              <a:rPr kumimoji="1" lang="en-US" altLang="ja-JP" dirty="0"/>
              <a:t>RNN</a:t>
            </a:r>
            <a:r>
              <a:rPr lang="ja-JP" altLang="en-US" dirty="0"/>
              <a:t>？</a:t>
            </a:r>
            <a:endParaRPr kumimoji="1" lang="ja-JP" altLang="en-US" dirty="0"/>
          </a:p>
        </p:txBody>
      </p:sp>
      <p:grpSp>
        <p:nvGrpSpPr>
          <p:cNvPr id="26" name="グループ化 25">
            <a:extLst>
              <a:ext uri="{FF2B5EF4-FFF2-40B4-BE49-F238E27FC236}">
                <a16:creationId xmlns:a16="http://schemas.microsoft.com/office/drawing/2014/main" id="{1639DE3D-02C4-1DD6-E979-03C5B96ACD18}"/>
              </a:ext>
            </a:extLst>
          </p:cNvPr>
          <p:cNvGrpSpPr/>
          <p:nvPr/>
        </p:nvGrpSpPr>
        <p:grpSpPr>
          <a:xfrm>
            <a:off x="609533" y="1179766"/>
            <a:ext cx="10972934" cy="5072180"/>
            <a:chOff x="218806" y="1094705"/>
            <a:chExt cx="10972934" cy="5072180"/>
          </a:xfrm>
        </p:grpSpPr>
        <p:sp>
          <p:nvSpPr>
            <p:cNvPr id="4" name="四角形: 角を丸くする 3">
              <a:extLst>
                <a:ext uri="{FF2B5EF4-FFF2-40B4-BE49-F238E27FC236}">
                  <a16:creationId xmlns:a16="http://schemas.microsoft.com/office/drawing/2014/main" id="{479F0667-DFF8-51F8-E55F-1465391C353A}"/>
                </a:ext>
              </a:extLst>
            </p:cNvPr>
            <p:cNvSpPr/>
            <p:nvPr/>
          </p:nvSpPr>
          <p:spPr>
            <a:xfrm>
              <a:off x="218806" y="1094705"/>
              <a:ext cx="3427093" cy="5072180"/>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nSpc>
                  <a:spcPct val="120000"/>
                </a:lnSpc>
              </a:pPr>
              <a:r>
                <a:rPr kumimoji="1" lang="ja-JP" altLang="en-US" sz="2800" b="1" dirty="0"/>
                <a:t>内部データの保持</a:t>
              </a:r>
              <a:endParaRPr kumimoji="1" lang="en-US" altLang="ja-JP" sz="2800" b="1" dirty="0"/>
            </a:p>
            <a:p>
              <a:pPr>
                <a:lnSpc>
                  <a:spcPct val="120000"/>
                </a:lnSpc>
              </a:pPr>
              <a:endParaRPr lang="en-US" altLang="ja-JP" sz="2800" b="1" dirty="0"/>
            </a:p>
            <a:p>
              <a:pPr>
                <a:lnSpc>
                  <a:spcPct val="120000"/>
                </a:lnSpc>
              </a:pPr>
              <a:endParaRPr kumimoji="1" lang="en-US" altLang="ja-JP" sz="2400" b="1" dirty="0"/>
            </a:p>
            <a:p>
              <a:pPr>
                <a:lnSpc>
                  <a:spcPct val="120000"/>
                </a:lnSpc>
              </a:pPr>
              <a:r>
                <a:rPr kumimoji="1" lang="ja-JP" altLang="en-US" sz="2400" b="1" dirty="0"/>
                <a:t>過去の膜電位や状態変化を、隠れ状態</a:t>
              </a:r>
              <a:r>
                <a:rPr kumimoji="1" lang="en-US" altLang="ja-JP" sz="2400" b="1" dirty="0"/>
                <a:t>(h)</a:t>
              </a:r>
              <a:r>
                <a:rPr kumimoji="1" lang="ja-JP" altLang="en-US" sz="2400" b="1" dirty="0"/>
                <a:t>に保持</a:t>
              </a:r>
              <a:endParaRPr kumimoji="1" lang="en-US" altLang="ja-JP" sz="2400" b="1" dirty="0"/>
            </a:p>
            <a:p>
              <a:pPr>
                <a:lnSpc>
                  <a:spcPct val="120000"/>
                </a:lnSpc>
              </a:pPr>
              <a:r>
                <a:rPr kumimoji="1" lang="ja-JP" altLang="en-US" sz="2400" b="1" dirty="0"/>
                <a:t>→  微分方程式による</a:t>
              </a:r>
              <a:endParaRPr kumimoji="1" lang="en-US" altLang="ja-JP" sz="2400" b="1" dirty="0"/>
            </a:p>
            <a:p>
              <a:pPr>
                <a:lnSpc>
                  <a:spcPct val="120000"/>
                </a:lnSpc>
              </a:pPr>
              <a:r>
                <a:rPr lang="ja-JP" altLang="en-US" sz="2400" b="1" dirty="0"/>
                <a:t>　モデルとの類似性</a:t>
              </a:r>
              <a:endParaRPr kumimoji="1" lang="en-US" altLang="ja-JP" sz="2400" b="1" dirty="0"/>
            </a:p>
            <a:p>
              <a:endParaRPr lang="en-US" altLang="ja-JP" sz="2400" b="1" dirty="0"/>
            </a:p>
            <a:p>
              <a:endParaRPr kumimoji="1" lang="en-US" altLang="ja-JP" sz="2400" b="1" dirty="0"/>
            </a:p>
          </p:txBody>
        </p:sp>
        <p:sp>
          <p:nvSpPr>
            <p:cNvPr id="23" name="四角形: 角を丸くする 22">
              <a:extLst>
                <a:ext uri="{FF2B5EF4-FFF2-40B4-BE49-F238E27FC236}">
                  <a16:creationId xmlns:a16="http://schemas.microsoft.com/office/drawing/2014/main" id="{D84A48B7-E8F8-1AB5-CE7F-138B9CF9F2D1}"/>
                </a:ext>
              </a:extLst>
            </p:cNvPr>
            <p:cNvSpPr/>
            <p:nvPr/>
          </p:nvSpPr>
          <p:spPr>
            <a:xfrm>
              <a:off x="3991726" y="1094705"/>
              <a:ext cx="3427093" cy="5072180"/>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nSpc>
                  <a:spcPct val="120000"/>
                </a:lnSpc>
              </a:pPr>
              <a:r>
                <a:rPr lang="ja-JP" altLang="en-US" sz="2800" b="1" dirty="0"/>
                <a:t>時系列データとの</a:t>
              </a:r>
              <a:endParaRPr lang="en-US" altLang="ja-JP" sz="2800" b="1" dirty="0"/>
            </a:p>
            <a:p>
              <a:pPr>
                <a:lnSpc>
                  <a:spcPct val="120000"/>
                </a:lnSpc>
              </a:pPr>
              <a:r>
                <a:rPr kumimoji="1" lang="ja-JP" altLang="en-US" sz="2800" b="1" dirty="0"/>
                <a:t>親和性</a:t>
              </a:r>
              <a:endParaRPr kumimoji="1" lang="en-US" altLang="ja-JP" sz="2800" b="1" dirty="0"/>
            </a:p>
            <a:p>
              <a:pPr>
                <a:lnSpc>
                  <a:spcPct val="120000"/>
                </a:lnSpc>
              </a:pPr>
              <a:endParaRPr kumimoji="1" lang="en-US" altLang="ja-JP" sz="2400" b="1" dirty="0"/>
            </a:p>
            <a:p>
              <a:pPr>
                <a:lnSpc>
                  <a:spcPct val="120000"/>
                </a:lnSpc>
              </a:pPr>
              <a:r>
                <a:rPr kumimoji="1" lang="ja-JP" altLang="en-US" sz="2400" b="1" dirty="0"/>
                <a:t>時間的に変化する入力刺激と膜電位の時間相関をそのまま効率的に学習</a:t>
              </a:r>
              <a:endParaRPr kumimoji="1" lang="en-US" altLang="ja-JP" sz="2400" b="1" dirty="0"/>
            </a:p>
            <a:p>
              <a:endParaRPr lang="en-US" altLang="ja-JP" sz="2400" b="1" dirty="0"/>
            </a:p>
            <a:p>
              <a:endParaRPr kumimoji="1" lang="en-US" altLang="ja-JP" sz="2400" b="1" dirty="0"/>
            </a:p>
          </p:txBody>
        </p:sp>
        <p:sp>
          <p:nvSpPr>
            <p:cNvPr id="25" name="四角形: 角を丸くする 24">
              <a:extLst>
                <a:ext uri="{FF2B5EF4-FFF2-40B4-BE49-F238E27FC236}">
                  <a16:creationId xmlns:a16="http://schemas.microsoft.com/office/drawing/2014/main" id="{A33A0146-67D4-E89A-D16D-E87244AEB637}"/>
                </a:ext>
              </a:extLst>
            </p:cNvPr>
            <p:cNvSpPr/>
            <p:nvPr/>
          </p:nvSpPr>
          <p:spPr>
            <a:xfrm>
              <a:off x="7764647" y="1094705"/>
              <a:ext cx="3427093" cy="5072180"/>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nSpc>
                  <a:spcPct val="120000"/>
                </a:lnSpc>
              </a:pPr>
              <a:r>
                <a:rPr lang="en-US" altLang="ja-JP" sz="2800" b="1" dirty="0"/>
                <a:t>GPU</a:t>
              </a:r>
              <a:r>
                <a:rPr lang="ja-JP" altLang="en-US" sz="2800" b="1" dirty="0"/>
                <a:t>並列化による</a:t>
              </a:r>
              <a:endParaRPr lang="en-US" altLang="ja-JP" sz="2800" b="1" dirty="0"/>
            </a:p>
            <a:p>
              <a:pPr>
                <a:lnSpc>
                  <a:spcPct val="120000"/>
                </a:lnSpc>
              </a:pPr>
              <a:r>
                <a:rPr kumimoji="1" lang="ja-JP" altLang="en-US" sz="2800" b="1" dirty="0"/>
                <a:t>高速化</a:t>
              </a:r>
              <a:endParaRPr kumimoji="1" lang="en-US" altLang="ja-JP" sz="2800" b="1" dirty="0"/>
            </a:p>
            <a:p>
              <a:pPr>
                <a:lnSpc>
                  <a:spcPct val="120000"/>
                </a:lnSpc>
              </a:pPr>
              <a:endParaRPr kumimoji="1" lang="en-US" altLang="ja-JP" sz="2400" b="1" dirty="0"/>
            </a:p>
            <a:p>
              <a:pPr algn="ctr">
                <a:lnSpc>
                  <a:spcPct val="120000"/>
                </a:lnSpc>
              </a:pPr>
              <a:r>
                <a:rPr kumimoji="1" lang="ja-JP" altLang="en-US" sz="2400" b="1" dirty="0"/>
                <a:t>微分方程式の</a:t>
              </a:r>
              <a:endParaRPr kumimoji="1" lang="en-US" altLang="ja-JP" sz="2400" b="1" dirty="0"/>
            </a:p>
            <a:p>
              <a:pPr algn="ctr">
                <a:lnSpc>
                  <a:spcPct val="120000"/>
                </a:lnSpc>
              </a:pPr>
              <a:r>
                <a:rPr kumimoji="1" lang="ja-JP" altLang="en-US" sz="2400" b="1" dirty="0"/>
                <a:t>逐次数値積分</a:t>
              </a:r>
              <a:endParaRPr kumimoji="1" lang="en-US" altLang="ja-JP" sz="2400" b="1" dirty="0"/>
            </a:p>
            <a:p>
              <a:pPr algn="ctr">
                <a:lnSpc>
                  <a:spcPct val="120000"/>
                </a:lnSpc>
              </a:pPr>
              <a:endParaRPr kumimoji="1" lang="en-US" altLang="ja-JP" sz="2400" b="1" dirty="0"/>
            </a:p>
            <a:p>
              <a:pPr algn="ctr">
                <a:lnSpc>
                  <a:spcPct val="120000"/>
                </a:lnSpc>
              </a:pPr>
              <a:r>
                <a:rPr lang="en-US" altLang="ja-JP" sz="2400" b="1" dirty="0"/>
                <a:t>RNN</a:t>
              </a:r>
              <a:r>
                <a:rPr lang="ja-JP" altLang="en-US" sz="2400" b="1" dirty="0"/>
                <a:t>の</a:t>
              </a:r>
              <a:r>
                <a:rPr kumimoji="1" lang="ja-JP" altLang="en-US" sz="2400" b="1" dirty="0"/>
                <a:t>行列積計算</a:t>
              </a:r>
              <a:endParaRPr kumimoji="1" lang="en-US" altLang="ja-JP" sz="2400" b="1" dirty="0"/>
            </a:p>
            <a:p>
              <a:pPr>
                <a:lnSpc>
                  <a:spcPct val="120000"/>
                </a:lnSpc>
              </a:pPr>
              <a:endParaRPr kumimoji="1" lang="en-US" altLang="ja-JP" sz="2400" b="1" dirty="0"/>
            </a:p>
            <a:p>
              <a:pPr>
                <a:lnSpc>
                  <a:spcPct val="120000"/>
                </a:lnSpc>
              </a:pPr>
              <a:r>
                <a:rPr kumimoji="1" lang="ja-JP" altLang="en-US" sz="2400" b="1" dirty="0"/>
                <a:t>著しい時間短縮が期待される</a:t>
              </a:r>
            </a:p>
            <a:p>
              <a:endParaRPr lang="en-US" altLang="ja-JP" sz="2400" b="1" dirty="0"/>
            </a:p>
            <a:p>
              <a:endParaRPr kumimoji="1" lang="en-US" altLang="ja-JP" sz="2400" b="1" dirty="0"/>
            </a:p>
          </p:txBody>
        </p:sp>
      </p:grpSp>
      <p:sp>
        <p:nvSpPr>
          <p:cNvPr id="29" name="矢印: 下 28">
            <a:extLst>
              <a:ext uri="{FF2B5EF4-FFF2-40B4-BE49-F238E27FC236}">
                <a16:creationId xmlns:a16="http://schemas.microsoft.com/office/drawing/2014/main" id="{AC5EDA2B-167B-A050-DF93-E90C6250379A}"/>
              </a:ext>
            </a:extLst>
          </p:cNvPr>
          <p:cNvSpPr/>
          <p:nvPr/>
        </p:nvSpPr>
        <p:spPr>
          <a:xfrm>
            <a:off x="9789397" y="3857256"/>
            <a:ext cx="260887" cy="287079"/>
          </a:xfrm>
          <a:prstGeom prst="downArrow">
            <a:avLst>
              <a:gd name="adj1" fmla="val 31334"/>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33935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D0F3C7-78AA-9462-A6F8-8B4CCCE68229}"/>
              </a:ext>
            </a:extLst>
          </p:cNvPr>
          <p:cNvSpPr>
            <a:spLocks noGrp="1"/>
          </p:cNvSpPr>
          <p:nvPr>
            <p:ph type="title"/>
          </p:nvPr>
        </p:nvSpPr>
        <p:spPr/>
        <p:txBody>
          <a:bodyPr/>
          <a:lstStyle/>
          <a:p>
            <a:r>
              <a:rPr lang="ja-JP" altLang="en-US" dirty="0"/>
              <a:t>基になる数理モデル</a:t>
            </a:r>
            <a:endParaRPr kumimoji="1" lang="ja-JP" altLang="en-US" dirty="0"/>
          </a:p>
        </p:txBody>
      </p:sp>
      <p:sp>
        <p:nvSpPr>
          <p:cNvPr id="75" name="Rounded Rectangle 3">
            <a:extLst>
              <a:ext uri="{FF2B5EF4-FFF2-40B4-BE49-F238E27FC236}">
                <a16:creationId xmlns:a16="http://schemas.microsoft.com/office/drawing/2014/main" id="{2DAE8BD0-0FAD-D7AF-E0C3-EDD94975E3D3}"/>
              </a:ext>
            </a:extLst>
          </p:cNvPr>
          <p:cNvSpPr/>
          <p:nvPr/>
        </p:nvSpPr>
        <p:spPr>
          <a:xfrm>
            <a:off x="6173586" y="1080247"/>
            <a:ext cx="5741894" cy="5181600"/>
          </a:xfrm>
          <a:prstGeom prst="roundRect">
            <a:avLst>
              <a:gd name="adj" fmla="val 2205"/>
            </a:avLst>
          </a:prstGeom>
          <a:solidFill>
            <a:srgbClr val="F0F9FF"/>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77" name="Rounded Rectangle 3">
            <a:extLst>
              <a:ext uri="{FF2B5EF4-FFF2-40B4-BE49-F238E27FC236}">
                <a16:creationId xmlns:a16="http://schemas.microsoft.com/office/drawing/2014/main" id="{4916DD34-FC39-3F73-8607-B7C380D38404}"/>
              </a:ext>
            </a:extLst>
          </p:cNvPr>
          <p:cNvSpPr/>
          <p:nvPr/>
        </p:nvSpPr>
        <p:spPr>
          <a:xfrm>
            <a:off x="218806" y="1080247"/>
            <a:ext cx="5741894" cy="5181600"/>
          </a:xfrm>
          <a:prstGeom prst="roundRect">
            <a:avLst>
              <a:gd name="adj" fmla="val 2205"/>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テキスト ボックス 96">
            <a:extLst>
              <a:ext uri="{FF2B5EF4-FFF2-40B4-BE49-F238E27FC236}">
                <a16:creationId xmlns:a16="http://schemas.microsoft.com/office/drawing/2014/main" id="{E10B4BAD-7000-C570-ABCD-E59DB42C1F2F}"/>
              </a:ext>
            </a:extLst>
          </p:cNvPr>
          <p:cNvSpPr txBox="1"/>
          <p:nvPr/>
        </p:nvSpPr>
        <p:spPr>
          <a:xfrm>
            <a:off x="6341128" y="1250577"/>
            <a:ext cx="5142755" cy="584775"/>
          </a:xfrm>
          <a:prstGeom prst="rect">
            <a:avLst/>
          </a:prstGeom>
          <a:noFill/>
        </p:spPr>
        <p:txBody>
          <a:bodyPr wrap="none" rtlCol="0">
            <a:spAutoFit/>
          </a:bodyPr>
          <a:lstStyle/>
          <a:p>
            <a:r>
              <a:rPr kumimoji="1" lang="en-US" altLang="ja-JP" sz="3200" b="1" dirty="0"/>
              <a:t>Multi-</a:t>
            </a:r>
            <a:r>
              <a:rPr kumimoji="1" lang="en-US" altLang="ja-JP" sz="3200" b="1" dirty="0" err="1"/>
              <a:t>Compertment</a:t>
            </a:r>
            <a:r>
              <a:rPr kumimoji="1" lang="ja-JP" altLang="en-US" sz="3200" b="1" dirty="0"/>
              <a:t>モデル</a:t>
            </a:r>
          </a:p>
        </p:txBody>
      </p:sp>
      <p:sp>
        <p:nvSpPr>
          <p:cNvPr id="99" name="テキスト ボックス 98">
            <a:extLst>
              <a:ext uri="{FF2B5EF4-FFF2-40B4-BE49-F238E27FC236}">
                <a16:creationId xmlns:a16="http://schemas.microsoft.com/office/drawing/2014/main" id="{99566511-2D95-9E41-CBF8-F791544E5E1F}"/>
              </a:ext>
            </a:extLst>
          </p:cNvPr>
          <p:cNvSpPr txBox="1"/>
          <p:nvPr/>
        </p:nvSpPr>
        <p:spPr>
          <a:xfrm>
            <a:off x="276520" y="1250577"/>
            <a:ext cx="4400757" cy="584775"/>
          </a:xfrm>
          <a:prstGeom prst="rect">
            <a:avLst/>
          </a:prstGeom>
          <a:noFill/>
        </p:spPr>
        <p:txBody>
          <a:bodyPr wrap="none" rtlCol="0">
            <a:spAutoFit/>
          </a:bodyPr>
          <a:lstStyle/>
          <a:p>
            <a:r>
              <a:rPr lang="en-US" altLang="ja-JP" sz="3200" b="1" dirty="0"/>
              <a:t>Hodgkin</a:t>
            </a:r>
            <a:r>
              <a:rPr kumimoji="1" lang="en-US" altLang="ja-JP" sz="3200" b="1" dirty="0"/>
              <a:t>-Huxley</a:t>
            </a:r>
            <a:r>
              <a:rPr kumimoji="1" lang="ja-JP" altLang="en-US" sz="3200" b="1" dirty="0"/>
              <a:t>モデル</a:t>
            </a:r>
          </a:p>
        </p:txBody>
      </p:sp>
      <p:sp>
        <p:nvSpPr>
          <p:cNvPr id="100" name="楕円 99">
            <a:extLst>
              <a:ext uri="{FF2B5EF4-FFF2-40B4-BE49-F238E27FC236}">
                <a16:creationId xmlns:a16="http://schemas.microsoft.com/office/drawing/2014/main" id="{F8ACCF07-A284-EA5B-6CF9-E44AF7D1C8E0}"/>
              </a:ext>
            </a:extLst>
          </p:cNvPr>
          <p:cNvSpPr/>
          <p:nvPr/>
        </p:nvSpPr>
        <p:spPr>
          <a:xfrm>
            <a:off x="3984786" y="4770012"/>
            <a:ext cx="2188800" cy="12803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進行中</a:t>
            </a:r>
          </a:p>
        </p:txBody>
      </p:sp>
      <p:sp>
        <p:nvSpPr>
          <p:cNvPr id="102" name="楕円 101">
            <a:extLst>
              <a:ext uri="{FF2B5EF4-FFF2-40B4-BE49-F238E27FC236}">
                <a16:creationId xmlns:a16="http://schemas.microsoft.com/office/drawing/2014/main" id="{D5309C0A-5558-56FC-F086-1F7C29DF7AB0}"/>
              </a:ext>
            </a:extLst>
          </p:cNvPr>
          <p:cNvSpPr/>
          <p:nvPr/>
        </p:nvSpPr>
        <p:spPr>
          <a:xfrm>
            <a:off x="9974076" y="4770012"/>
            <a:ext cx="2188800" cy="12803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3200" b="1" dirty="0">
                <a:solidFill>
                  <a:schemeClr val="tx1"/>
                </a:solidFill>
              </a:rPr>
              <a:t>未着手</a:t>
            </a:r>
            <a:endParaRPr kumimoji="1" lang="ja-JP" altLang="en-US" sz="3200" b="1" dirty="0">
              <a:solidFill>
                <a:schemeClr val="tx1"/>
              </a:solidFill>
            </a:endParaRPr>
          </a:p>
        </p:txBody>
      </p:sp>
      <p:sp>
        <p:nvSpPr>
          <p:cNvPr id="104" name="テキスト ボックス 103">
            <a:extLst>
              <a:ext uri="{FF2B5EF4-FFF2-40B4-BE49-F238E27FC236}">
                <a16:creationId xmlns:a16="http://schemas.microsoft.com/office/drawing/2014/main" id="{9CA20C82-0B42-5C5A-31A5-1D69A069A37C}"/>
              </a:ext>
            </a:extLst>
          </p:cNvPr>
          <p:cNvSpPr txBox="1"/>
          <p:nvPr/>
        </p:nvSpPr>
        <p:spPr>
          <a:xfrm>
            <a:off x="381000" y="2035033"/>
            <a:ext cx="5016366" cy="3108543"/>
          </a:xfrm>
          <a:prstGeom prst="rect">
            <a:avLst/>
          </a:prstGeom>
          <a:noFill/>
        </p:spPr>
        <p:txBody>
          <a:bodyPr wrap="square" rtlCol="0">
            <a:spAutoFit/>
          </a:bodyPr>
          <a:lstStyle/>
          <a:p>
            <a:r>
              <a:rPr kumimoji="1" lang="ja-JP" altLang="en-US" sz="2800" b="1" dirty="0"/>
              <a:t>空間形状を考慮しない</a:t>
            </a:r>
            <a:endParaRPr kumimoji="1" lang="en-US" altLang="ja-JP" sz="2800" b="1" dirty="0"/>
          </a:p>
          <a:p>
            <a:r>
              <a:rPr lang="ja-JP" altLang="en-US" sz="2800" b="1" dirty="0"/>
              <a:t>コンパートメント：１個</a:t>
            </a:r>
            <a:endParaRPr lang="en-US" altLang="ja-JP" sz="2800" b="1" dirty="0"/>
          </a:p>
          <a:p>
            <a:endParaRPr kumimoji="1" lang="en-US" altLang="ja-JP" sz="2800" b="1" dirty="0"/>
          </a:p>
          <a:p>
            <a:r>
              <a:rPr lang="ja-JP" altLang="en-US" sz="2800" b="1" dirty="0"/>
              <a:t>状態変数：ゲート変数</a:t>
            </a:r>
            <a:endParaRPr lang="en-US" altLang="ja-JP" sz="2800" b="1" dirty="0"/>
          </a:p>
          <a:p>
            <a:r>
              <a:rPr lang="ja-JP" altLang="en-US" sz="2800" b="1" dirty="0"/>
              <a:t>　　　　　</a:t>
            </a:r>
            <a:r>
              <a:rPr kumimoji="1" lang="ja-JP" altLang="en-US" sz="2800" b="1" dirty="0"/>
              <a:t>その他変数</a:t>
            </a:r>
            <a:endParaRPr kumimoji="1" lang="en-US" altLang="ja-JP" sz="2800" b="1" dirty="0"/>
          </a:p>
          <a:p>
            <a:endParaRPr lang="en-US" altLang="ja-JP" sz="2800" b="1" dirty="0"/>
          </a:p>
          <a:p>
            <a:endParaRPr kumimoji="1" lang="ja-JP" altLang="en-US" sz="2800" b="1" dirty="0"/>
          </a:p>
        </p:txBody>
      </p:sp>
      <p:sp>
        <p:nvSpPr>
          <p:cNvPr id="106" name="テキスト ボックス 105">
            <a:extLst>
              <a:ext uri="{FF2B5EF4-FFF2-40B4-BE49-F238E27FC236}">
                <a16:creationId xmlns:a16="http://schemas.microsoft.com/office/drawing/2014/main" id="{AD07620A-2599-BC12-CC63-54BF6DF687FB}"/>
              </a:ext>
            </a:extLst>
          </p:cNvPr>
          <p:cNvSpPr txBox="1"/>
          <p:nvPr/>
        </p:nvSpPr>
        <p:spPr>
          <a:xfrm>
            <a:off x="6404322" y="2068504"/>
            <a:ext cx="5016366" cy="4401205"/>
          </a:xfrm>
          <a:prstGeom prst="rect">
            <a:avLst/>
          </a:prstGeom>
          <a:noFill/>
        </p:spPr>
        <p:txBody>
          <a:bodyPr wrap="square" rtlCol="0">
            <a:spAutoFit/>
          </a:bodyPr>
          <a:lstStyle/>
          <a:p>
            <a:r>
              <a:rPr kumimoji="1" lang="ja-JP" altLang="en-US" sz="2800" b="1" dirty="0"/>
              <a:t>空間形状を考慮</a:t>
            </a:r>
            <a:endParaRPr kumimoji="1" lang="en-US" altLang="ja-JP" sz="2800" b="1" dirty="0"/>
          </a:p>
          <a:p>
            <a:r>
              <a:rPr lang="ja-JP" altLang="en-US" sz="2800" b="1" dirty="0"/>
              <a:t>コンパートメント：</a:t>
            </a:r>
            <a:r>
              <a:rPr lang="en-US" altLang="ja-JP" sz="2800" b="1" dirty="0"/>
              <a:t>10</a:t>
            </a:r>
            <a:r>
              <a:rPr lang="ja-JP" altLang="en-US" sz="2800" b="1" dirty="0"/>
              <a:t>～</a:t>
            </a:r>
            <a:r>
              <a:rPr lang="en-US" altLang="ja-JP" sz="2800" b="1" dirty="0"/>
              <a:t>20</a:t>
            </a:r>
            <a:r>
              <a:rPr lang="ja-JP" altLang="en-US" sz="2800" b="1" dirty="0"/>
              <a:t>個</a:t>
            </a:r>
            <a:endParaRPr lang="en-US" altLang="ja-JP" sz="2800" b="1" dirty="0"/>
          </a:p>
          <a:p>
            <a:endParaRPr kumimoji="1" lang="en-US" altLang="ja-JP" sz="2800" b="1" dirty="0"/>
          </a:p>
          <a:p>
            <a:r>
              <a:rPr lang="ja-JP" altLang="en-US" sz="2800" b="1" dirty="0"/>
              <a:t>状態変数：ゲート変数</a:t>
            </a:r>
            <a:endParaRPr lang="en-US" altLang="ja-JP" sz="2800" b="1" dirty="0"/>
          </a:p>
          <a:p>
            <a:r>
              <a:rPr lang="ja-JP" altLang="en-US" sz="2800" b="1" dirty="0"/>
              <a:t>　　　　　</a:t>
            </a:r>
            <a:r>
              <a:rPr kumimoji="1" lang="ja-JP" altLang="en-US" sz="2800" b="1" dirty="0"/>
              <a:t>その他変数</a:t>
            </a:r>
            <a:endParaRPr kumimoji="1" lang="en-US" altLang="ja-JP" sz="2800" b="1" dirty="0"/>
          </a:p>
          <a:p>
            <a:endParaRPr lang="en-US" altLang="ja-JP" sz="2800" b="1" dirty="0"/>
          </a:p>
          <a:p>
            <a:r>
              <a:rPr kumimoji="1" lang="ja-JP" altLang="en-US" sz="2800" b="1" dirty="0"/>
              <a:t>より再現度の高い</a:t>
            </a:r>
            <a:endParaRPr kumimoji="1" lang="en-US" altLang="ja-JP" sz="2800" b="1" dirty="0"/>
          </a:p>
          <a:p>
            <a:r>
              <a:rPr kumimoji="1" lang="ja-JP" altLang="en-US" sz="2800" b="1" dirty="0"/>
              <a:t>シミュレーション</a:t>
            </a:r>
            <a:endParaRPr kumimoji="1" lang="en-US" altLang="ja-JP" sz="2800" b="1" dirty="0"/>
          </a:p>
          <a:p>
            <a:endParaRPr lang="en-US" altLang="ja-JP" sz="2800" b="1" dirty="0"/>
          </a:p>
          <a:p>
            <a:endParaRPr kumimoji="1" lang="ja-JP" altLang="en-US" sz="2800" b="1" dirty="0"/>
          </a:p>
        </p:txBody>
      </p:sp>
    </p:spTree>
    <p:extLst>
      <p:ext uri="{BB962C8B-B14F-4D97-AF65-F5344CB8AC3E}">
        <p14:creationId xmlns:p14="http://schemas.microsoft.com/office/powerpoint/2010/main" val="2729717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737B2-F508-9467-631A-304CAEFE21B3}"/>
              </a:ext>
            </a:extLst>
          </p:cNvPr>
          <p:cNvSpPr>
            <a:spLocks noGrp="1"/>
          </p:cNvSpPr>
          <p:nvPr>
            <p:ph type="title"/>
          </p:nvPr>
        </p:nvSpPr>
        <p:spPr/>
        <p:txBody>
          <a:bodyPr/>
          <a:lstStyle/>
          <a:p>
            <a:r>
              <a:rPr kumimoji="1" lang="en-US" altLang="ja-JP" dirty="0"/>
              <a:t>Hodgkin-Huxley</a:t>
            </a:r>
            <a:r>
              <a:rPr kumimoji="1" lang="ja-JP" altLang="en-US" dirty="0"/>
              <a:t>モデル</a:t>
            </a:r>
          </a:p>
        </p:txBody>
      </p:sp>
      <p:sp>
        <p:nvSpPr>
          <p:cNvPr id="3" name="コンテンツ プレースホルダー 2">
            <a:extLst>
              <a:ext uri="{FF2B5EF4-FFF2-40B4-BE49-F238E27FC236}">
                <a16:creationId xmlns:a16="http://schemas.microsoft.com/office/drawing/2014/main" id="{F3FD7764-C7C9-7ECE-800B-44800F9B175B}"/>
              </a:ext>
            </a:extLst>
          </p:cNvPr>
          <p:cNvSpPr>
            <a:spLocks noGrp="1"/>
          </p:cNvSpPr>
          <p:nvPr>
            <p:ph sz="quarter" idx="10"/>
          </p:nvPr>
        </p:nvSpPr>
        <p:spPr/>
        <p:txBody>
          <a:bodyPr/>
          <a:lstStyle/>
          <a:p>
            <a:endParaRPr kumimoji="1" lang="ja-JP" altLang="en-US" dirty="0"/>
          </a:p>
        </p:txBody>
      </p:sp>
    </p:spTree>
    <p:extLst>
      <p:ext uri="{BB962C8B-B14F-4D97-AF65-F5344CB8AC3E}">
        <p14:creationId xmlns:p14="http://schemas.microsoft.com/office/powerpoint/2010/main" val="1584462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5D2822-35FE-8001-99E5-BF7BCCBA7664}"/>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6ABDD3A-DC5B-2444-EABC-C39BAB28BC9A}"/>
              </a:ext>
            </a:extLst>
          </p:cNvPr>
          <p:cNvSpPr>
            <a:spLocks noGrp="1"/>
          </p:cNvSpPr>
          <p:nvPr>
            <p:ph sz="quarter" idx="10"/>
          </p:nvPr>
        </p:nvSpPr>
        <p:spPr/>
        <p:txBody>
          <a:bodyPr/>
          <a:lstStyle/>
          <a:p>
            <a:endParaRPr kumimoji="1" lang="ja-JP" altLang="en-US"/>
          </a:p>
        </p:txBody>
      </p:sp>
    </p:spTree>
    <p:extLst>
      <p:ext uri="{BB962C8B-B14F-4D97-AF65-F5344CB8AC3E}">
        <p14:creationId xmlns:p14="http://schemas.microsoft.com/office/powerpoint/2010/main" val="38957226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淡い単色">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3843</TotalTime>
  <Words>313</Words>
  <Application>Microsoft Office PowerPoint</Application>
  <PresentationFormat>ワイド画面</PresentationFormat>
  <Paragraphs>87</Paragraphs>
  <Slides>9</Slides>
  <Notes>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BIZ UDPゴシック</vt:lpstr>
      <vt:lpstr>游ゴシック</vt:lpstr>
      <vt:lpstr>Arial</vt:lpstr>
      <vt:lpstr>Cambria Math</vt:lpstr>
      <vt:lpstr>Times New Roman</vt:lpstr>
      <vt:lpstr>Office テーマ</vt:lpstr>
      <vt:lpstr>神経細胞シミュレーションの 計算コスト削減を目的とした RNN代理モデルの構築</vt:lpstr>
      <vt:lpstr>神経細胞と脳機能</vt:lpstr>
      <vt:lpstr>神経細胞の数理モデル</vt:lpstr>
      <vt:lpstr>大規模シミュレーション</vt:lpstr>
      <vt:lpstr>RNN代理モデル</vt:lpstr>
      <vt:lpstr>なぜRNN？</vt:lpstr>
      <vt:lpstr>基になる数理モデル</vt:lpstr>
      <vt:lpstr>Hodgkin-Huxleyモデル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山下　陽平</dc:creator>
  <cp:lastModifiedBy>山下　陽平</cp:lastModifiedBy>
  <cp:revision>3</cp:revision>
  <dcterms:created xsi:type="dcterms:W3CDTF">2026-09-22T09:52:35Z</dcterms:created>
  <dcterms:modified xsi:type="dcterms:W3CDTF">2026-09-25T04:23:22Z</dcterms:modified>
</cp:coreProperties>
</file>